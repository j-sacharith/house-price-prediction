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43A"/>
                </a:solidFill>
                <a:latin typeface="Arial"/>
              </a:defRPr>
            </a:pPr>
            <a:r>
              <a:rPr sz="1200" b="0" i="0" u="none" strike="noStrike">
                <a:solidFill>
                  <a:srgbClr val="16243A"/>
                </a:solidFill>
                <a:latin typeface="Arial"/>
              </a:rPr>
              <a:t>Validation RMSE ($ thousands)</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C7544E"/>
            </a:solidFill>
            <a:effectLst/>
          </c:spPr>
          <c:invertIfNegative val="0"/>
          <c:dLbls>
            <c:numFmt formatCode="$#&quot;k&quot;" sourceLinked="0"/>
            <c:txPr>
              <a:bodyPr/>
              <a:lstStyle/>
              <a:p>
                <a:pPr>
                  <a:defRPr b="0" i="0" strike="noStrike" sz="1000" u="none">
                    <a:solidFill>
                      <a:srgbClr val="1A2436"/>
                    </a:solidFill>
                    <a:latin typeface="Arial"/>
                  </a:defRPr>
                </a:pPr>
              </a:p>
            </c:txPr>
            <c:showLegendKey val="0"/>
            <c:showVal val="1"/>
            <c:showCatName val="0"/>
            <c:showSerName val="0"/>
            <c:showPercent val="0"/>
            <c:showBubbleSize val="0"/>
            <c:showLeaderLines val="0"/>
          </c:dLbls>
          <c:dPt>
            <c:idx val="0"/>
            <c:invertIfNegative val="0"/>
            <c:bubble3D val="0"/>
            <c:spPr>
              <a:solidFill>
                <a:srgbClr val="C7544E"/>
              </a:solidFill>
              <a:effectLst/>
            </c:spPr>
          </c:dPt>
          <c:dPt>
            <c:idx val="1"/>
            <c:invertIfNegative val="0"/>
            <c:bubble3D val="0"/>
            <c:spPr>
              <a:solidFill>
                <a:srgbClr val="C7544E"/>
              </a:solidFill>
              <a:effectLst/>
            </c:spPr>
          </c:dPt>
          <c:dPt>
            <c:idx val="2"/>
            <c:invertIfNegative val="0"/>
            <c:bubble3D val="0"/>
            <c:spPr>
              <a:solidFill>
                <a:srgbClr val="2A9D8F"/>
              </a:solidFill>
              <a:effectLst/>
            </c:spPr>
          </c:dPt>
          <c:dPt>
            <c:idx val="3"/>
            <c:invertIfNegative val="0"/>
            <c:bubble3D val="0"/>
            <c:spPr>
              <a:solidFill>
                <a:srgbClr val="2A9D8F"/>
              </a:solidFill>
              <a:effectLst/>
            </c:spPr>
          </c:dPt>
          <c:cat>
            <c:multiLvlStrRef>
              <c:f>Sheet1!$A$2:$A$5</c:f>
              <c:multiLvlStrCache>
                <c:ptCount val="4"/>
                <c:lvl>
                  <c:pt idx="0">
                    <c:v>Mean</c:v>
                  </c:pt>
                  <c:pt idx="1">
                    <c:v>Median</c:v>
                  </c:pt>
                  <c:pt idx="2">
                    <c:v>Linear reg.</c:v>
                  </c:pt>
                  <c:pt idx="3">
                    <c:v>Random forest</c:v>
                  </c:pt>
                </c:lvl>
              </c:multiLvlStrCache>
            </c:multiLvlStrRef>
          </c:cat>
          <c:val>
            <c:numRef>
              <c:f>Sheet1!$B$2:$B$5</c:f>
              <c:numCache>
                <c:formatCode>General</c:formatCode>
                <c:ptCount val="4"/>
                <c:pt idx="0">
                  <c:v>88.271</c:v>
                </c:pt>
                <c:pt idx="1">
                  <c:v>88.667</c:v>
                </c:pt>
                <c:pt idx="2">
                  <c:v>22.907</c:v>
                </c:pt>
                <c:pt idx="3">
                  <c:v>29.666</c:v>
                </c:pt>
              </c:numCache>
            </c:numRef>
          </c:val>
        </c:ser>
        <c:dLbls>
          <c:numFmt formatCode="$#&quot;k&quot;" sourceLinked="0"/>
          <c:txPr>
            <a:bodyPr/>
            <a:lstStyle/>
            <a:p>
              <a:pPr>
                <a:defRPr b="0" i="0" strike="noStrike" sz="1000" u="none">
                  <a:solidFill>
                    <a:srgbClr val="1A243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243A"/>
                </a:solidFill>
                <a:latin typeface="Arial"/>
              </a:defRPr>
            </a:pPr>
            <a:r>
              <a:rPr sz="1100" b="0" i="0" u="none" strike="noStrike">
                <a:solidFill>
                  <a:srgbClr val="16243A"/>
                </a:solidFill>
                <a:latin typeface="Arial"/>
              </a:rPr>
              <a:t>RMSE: NN vs the contenders</a:t>
            </a:r>
          </a:p>
        </c:rich>
      </c:tx>
      <c:layout/>
      <c:overlay val="0"/>
    </c:title>
    <c:autoTitleDeleted val="0"/>
    <c:plotArea>
      <c:layout/>
      <c:barChart>
        <c:barDir val="col"/>
        <c:grouping val="clustered"/>
        <c:varyColors val="0"/>
        <c:ser>
          <c:idx val="0"/>
          <c:order val="0"/>
          <c:tx>
            <c:strRef>
              <c:f>Sheet1!$B$1</c:f>
              <c:strCache>
                <c:ptCount val="1"/>
                <c:pt idx="0">
                  <c:v>RMSE</c:v>
                </c:pt>
              </c:strCache>
            </c:strRef>
          </c:tx>
          <c:spPr>
            <a:solidFill>
              <a:srgbClr val="5B6B82"/>
            </a:solidFill>
            <a:effectLst/>
          </c:spPr>
          <c:invertIfNegative val="0"/>
          <c:dLbls>
            <c:numFmt formatCode="$#&quot;k&quot;" sourceLinked="0"/>
            <c:txPr>
              <a:bodyPr/>
              <a:lstStyle/>
              <a:p>
                <a:pPr>
                  <a:defRPr b="0" i="0" strike="noStrike" sz="900" u="none">
                    <a:solidFill>
                      <a:srgbClr val="1A2436"/>
                    </a:solidFill>
                    <a:latin typeface="Arial"/>
                  </a:defRPr>
                </a:pPr>
              </a:p>
            </c:txPr>
            <c:showLegendKey val="0"/>
            <c:showVal val="1"/>
            <c:showCatName val="0"/>
            <c:showSerName val="0"/>
            <c:showPercent val="0"/>
            <c:showBubbleSize val="0"/>
            <c:showLeaderLines val="0"/>
          </c:dLbls>
          <c:dPt>
            <c:idx val="0"/>
            <c:invertIfNegative val="0"/>
            <c:bubble3D val="0"/>
            <c:spPr>
              <a:solidFill>
                <a:srgbClr val="5B6B82"/>
              </a:solidFill>
              <a:effectLst/>
            </c:spPr>
          </c:dPt>
          <c:dPt>
            <c:idx val="1"/>
            <c:invertIfNegative val="0"/>
            <c:bubble3D val="0"/>
            <c:spPr>
              <a:solidFill>
                <a:srgbClr val="5B6B82"/>
              </a:solidFill>
              <a:effectLst/>
            </c:spPr>
          </c:dPt>
          <c:dPt>
            <c:idx val="2"/>
            <c:invertIfNegative val="0"/>
            <c:bubble3D val="0"/>
            <c:spPr>
              <a:solidFill>
                <a:srgbClr val="8FBFC9"/>
              </a:solidFill>
              <a:effectLst/>
            </c:spPr>
          </c:dPt>
          <c:dPt>
            <c:idx val="3"/>
            <c:invertIfNegative val="0"/>
            <c:bubble3D val="0"/>
            <c:spPr>
              <a:solidFill>
                <a:srgbClr val="2A9D8F"/>
              </a:solidFill>
              <a:effectLst/>
            </c:spPr>
          </c:dPt>
          <c:cat>
            <c:multiLvlStrRef>
              <c:f>Sheet1!$A$2:$A$5</c:f>
              <c:multiLvlStrCache>
                <c:ptCount val="4"/>
                <c:lvl>
                  <c:pt idx="0">
                    <c:v>Linear</c:v>
                  </c:pt>
                  <c:pt idx="1">
                    <c:v>Rand.For.</c:v>
                  </c:pt>
                  <c:pt idx="2">
                    <c:v>NN plain</c:v>
                  </c:pt>
                  <c:pt idx="3">
                    <c:v>NN final</c:v>
                  </c:pt>
                </c:lvl>
              </c:multiLvlStrCache>
            </c:multiLvlStrRef>
          </c:cat>
          <c:val>
            <c:numRef>
              <c:f>Sheet1!$B$2:$B$5</c:f>
              <c:numCache>
                <c:formatCode>General</c:formatCode>
                <c:ptCount val="4"/>
                <c:pt idx="0">
                  <c:v>22.907</c:v>
                </c:pt>
                <c:pt idx="1">
                  <c:v>29.666</c:v>
                </c:pt>
                <c:pt idx="2">
                  <c:v>28.942</c:v>
                </c:pt>
                <c:pt idx="3">
                  <c:v>29.123</c:v>
                </c:pt>
              </c:numCache>
            </c:numRef>
          </c:val>
        </c:ser>
        <c:dLbls>
          <c:numFmt formatCode="$#&quot;k&quot;" sourceLinked="0"/>
          <c:txPr>
            <a:bodyPr/>
            <a:lstStyle/>
            <a:p>
              <a:pPr>
                <a:defRPr b="0" i="0" strike="noStrike" sz="900" u="none">
                  <a:solidFill>
                    <a:srgbClr val="1A243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B82"/>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This project is about predicting house prices - what a home actually sold for, based on things like its size, quality, location, and age. The dataset has about fourteen hundred and sixty homes, with seventy-nine pieces of information about each one, and I built the model using TensorFlow and Keras. But I want to be clear up front: the point of this project wasn't to get the smallest possible error. It was to do the work carefully and in the right order. And I'll finish with an honest answer to a question worth asking - whether a neural network was even the right tool for this job. Let's start with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anything, I looked closely at the data, and two things stood out. First, the prices are lopsided. Most homes are cheap-to-mid-priced, and a few are very expensive. If I predict prices directly, those few expensive homes dominate everything and distort the model. So instead, I predict price on a stretched-out, logarithmic scale. That evens things out, and it makes the model care about being off by a percentage rather than a flat dollar amount - which is what actually matters, whether a house is a hundred thousand or seven hundred thousand. Second, a lot of the 'missing' data isn't really missing. A blank in the 'pool quality' column just means the house has no pool. So I treat those blanks as a real answer - 'None' - instead of guessing a value. I also flagged two strange sales: very large houses that sold for very little. So with the data understood, the next step was to build something simple to compare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didn't jump straight to building a network. I followed a well-known checklist, in order. Understand the data first. Then build simple models to beat. Then run quick tests to make sure the code is actually correct. Then deliberately let the network memorize the data, to prove it's powerful enough. Then add techniques to stop it over-memorizing. And only then, fine-tune. The discipline throughout is simple: change one thing at a time, and predict what'll happen before you run it. The whole idea on this slide is right here - make sure the setup is trustworthy before you trust the model's results. So let's look at those simple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yardsticks. Every fancy model has to beat them. The simplest thing you can do is guess the average price for every house. That's bad - it's off by about eighty-eight thousand dollars on average. So that's the floor; any real model has to clearly beat that. But here's the surprise. A basic linear regression - essentially a straight-line formula - already gets the typical error down to about twenty-three thousand dollars. That's strong. And it raises the question that runs through the rest of this talk: if a simple model is already this good, is a neural network even worth it? Hold that thought. Before I answer it, I had to make sure my setup was actually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quick sanity checks to catch bugs before wasting time tuning anything. First: when the network starts out untrained, its error should land on a specific, predictable number - and it does, exactly one-point-zero on our scale. That tells me the math is wired up correctly. Second: I give the network just eight houses and check whether it can memorize them perfectly. It drives its error all the way to zero - so it's genuinely capable of learning. And third: I make sure the model never peeks at the test data while I'm preparing things - no accidental cheating. The takeaway is that code which runs isn't the same as code that's correct. So I verify first, then build. Which brings us to the network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three experiments, and each one changed just a single thing. Experiment A is a bare-bones network with no safeguards. Its only job is to prove the network is powerful enough to memorize the training data. And you can see that in the chart - the training error drops way below the validation error, which is the classic sign of memorizing. Experiment B adds standard techniques to stop that over-memorizing, so it does better on new, unseen houses. Experiment C tries a deeper network and a different training method. And honestly? All three are very close. I picked B as the final model, because it did best on data it hadn't seen. The real lesson here is that the safeguards mattered far more than fiddling with the network's shape. So - how good is that final model, really?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the numbers in plain terms. On average, the model is off by about sixteen and a half thousand dollars, and its typical error is around twenty-nine thousand - which is roughly eleven percent of a typical home's price. So what's that good for? It's fine for a rough estimate, or for sorting through a big list of properties. But it's not precise enough to make a firm offer on a single house - eleven percent of a three-hundred-thousand-dollar home is thirty thousand dollars, and that's real risk. And here's the honest verdict, which is really the heart of this project: the neural network only tied the simple linear model. It didn't beat it. And for a small table of numbers like this, that's exactly what we'd expect - it's not a failure, it's the expected result. Now let me show you that the model is at least reasoning sensibly.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here: is the model using sensible information, and where does it go wrong? On the left, I measured how important each feature is by scrambling it and seeing how much worse the predictions get. The most important ones are overall quality, living area, garage and basement size, and neighborhood. That's exactly what you'd expect - and exactly what looked important back when I explored the data. That agreement builds trust. On the right, you can see where it struggles. The errors grow with price. Expensive homes are predicted about three times worse than mid-priced ones - simply because there are very few of them to learn from. So in practice, I'd attach a 'lower confidence' warning whenever the model prices an expensive home. Now, what would it actually take to use this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real-estate company actually using this. They'd retrain it every so often - say monthly - as new sales come in, and serve predictions through a simple online service. And importantly, you don't ship the training code - you ship a self-contained package: the trained model, plus the data-preparation steps, plus notes about it. Then you have to keep watching it, because the housing market constantly changes. New neighborhoods appear. Prices drift upward with inflation. And interest-rate changes can shift how features even relate to price. So we'd set up alerts for those shifts, retrain when needed, keep older versions so we can roll back, and fall back to the simple model - or a human appraiser - for unusual homes. So, to wrap up: what did we actually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honest reflection. Was the neural network worth it? Not really - a simple model did just as well. And that's the expected outcome for a small table of numbers like this. The real payoff was the careful process, not the model. The decisions that mattered most were preparing the data well - the stretched price scale, and no cheating - and the safeguards against over-memorizing. Not the network's design. The hardest part was the expensive homes. And before trusting this in the real world, you'd want monitoring, confidence estimates, a backup plan, and frankly, the humility to ship the simpler model. So my final takeaway is this: a model you understand and trust beats a slightly better one that's a black box. Thank you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3A"/>
        </a:solidFill>
      </p:bgPr>
    </p:bg>
    <p:spTree>
      <p:nvGrpSpPr>
        <p:cNvPr id="1" name=""/>
        <p:cNvGrpSpPr/>
        <p:nvPr/>
      </p:nvGrpSpPr>
      <p:grpSpPr>
        <a:xfrm>
          <a:off x="0" y="0"/>
          <a:ext cx="0" cy="0"/>
          <a:chOff x="0" y="0"/>
          <a:chExt cx="0" cy="0"/>
        </a:xfrm>
      </p:grpSpPr>
      <p:sp>
        <p:nvSpPr>
          <p:cNvPr id="2" name="Shape 0"/>
          <p:cNvSpPr/>
          <p:nvPr/>
        </p:nvSpPr>
        <p:spPr>
          <a:xfrm>
            <a:off x="7040880" y="-1463040"/>
            <a:ext cx="4206240" cy="4206240"/>
          </a:xfrm>
          <a:prstGeom prst="ellipse">
            <a:avLst/>
          </a:prstGeom>
          <a:solidFill>
            <a:srgbClr val="1F3052"/>
          </a:solidFill>
          <a:ln/>
        </p:spPr>
      </p:sp>
      <p:sp>
        <p:nvSpPr>
          <p:cNvPr id="3" name="Shape 1"/>
          <p:cNvSpPr/>
          <p:nvPr/>
        </p:nvSpPr>
        <p:spPr>
          <a:xfrm>
            <a:off x="8138160" y="2651760"/>
            <a:ext cx="2926080" cy="2926080"/>
          </a:xfrm>
          <a:prstGeom prst="ellipse">
            <a:avLst/>
          </a:prstGeom>
          <a:solidFill>
            <a:srgbClr val="203A66"/>
          </a:solidFill>
          <a:ln/>
        </p:spPr>
      </p:sp>
      <p:sp>
        <p:nvSpPr>
          <p:cNvPr id="4" name="Shape 2"/>
          <p:cNvSpPr/>
          <p:nvPr/>
        </p:nvSpPr>
        <p:spPr>
          <a:xfrm>
            <a:off x="640080" y="640080"/>
            <a:ext cx="822960" cy="822960"/>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5" name="Image 0" descr="preencoded.png">    </p:cNvPr>
          <p:cNvPicPr>
            <a:picLocks noChangeAspect="1"/>
          </p:cNvPicPr>
          <p:nvPr/>
        </p:nvPicPr>
        <p:blipFill>
          <a:blip r:embed="rId1"/>
          <a:stretch>
            <a:fillRect/>
          </a:stretch>
        </p:blipFill>
        <p:spPr>
          <a:xfrm>
            <a:off x="821131" y="821131"/>
            <a:ext cx="460858" cy="460858"/>
          </a:xfrm>
          <a:prstGeom prst="rect">
            <a:avLst/>
          </a:prstGeom>
        </p:spPr>
      </p:pic>
      <p:sp>
        <p:nvSpPr>
          <p:cNvPr id="6" name="Text 3"/>
          <p:cNvSpPr/>
          <p:nvPr/>
        </p:nvSpPr>
        <p:spPr>
          <a:xfrm>
            <a:off x="658368" y="1600200"/>
            <a:ext cx="7315200" cy="274320"/>
          </a:xfrm>
          <a:prstGeom prst="rect">
            <a:avLst/>
          </a:prstGeom>
          <a:noFill/>
          <a:ln/>
        </p:spPr>
        <p:txBody>
          <a:bodyPr wrap="square" rtlCol="0" anchor="ctr"/>
          <a:lstStyle/>
          <a:p>
            <a:pPr indent="0" marL="0">
              <a:buNone/>
            </a:pPr>
            <a:r>
              <a:rPr lang="en-US" sz="1300" b="1" spc="300" kern="0" dirty="0">
                <a:solidFill>
                  <a:srgbClr val="E9B949"/>
                </a:solidFill>
                <a:latin typeface="Calibri" pitchFamily="34" charset="0"/>
                <a:ea typeface="Calibri" pitchFamily="34" charset="-122"/>
                <a:cs typeface="Calibri" pitchFamily="34" charset="-120"/>
              </a:rPr>
              <a:t>DEEP LEARNING · PROJECT 2</a:t>
            </a:r>
            <a:endParaRPr lang="en-US" sz="1300" dirty="0"/>
          </a:p>
        </p:txBody>
      </p:sp>
      <p:sp>
        <p:nvSpPr>
          <p:cNvPr id="8" name="Text 4"/>
          <p:cNvSpPr/>
          <p:nvPr/>
        </p:nvSpPr>
        <p:spPr>
          <a:xfrm>
            <a:off x="640080" y="1874520"/>
            <a:ext cx="7863840" cy="1463040"/>
          </a:xfrm>
          <a:prstGeom prst="rect">
            <a:avLst/>
          </a:prstGeom>
          <a:noFill/>
          <a:ln/>
        </p:spPr>
        <p:txBody>
          <a:bodyPr wrap="square" rtlCol="0" anchor="ctr"/>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House Price Prediction</a:t>
            </a:r>
            <a:endParaRPr lang="en-US" sz="4000" dirty="0"/>
          </a:p>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with Neural Networks</a:t>
            </a:r>
            <a:endParaRPr lang="en-US" sz="4000" dirty="0"/>
          </a:p>
        </p:txBody>
      </p:sp>
      <p:sp>
        <p:nvSpPr>
          <p:cNvPr id="9" name="Text 5"/>
          <p:cNvSpPr/>
          <p:nvPr/>
        </p:nvSpPr>
        <p:spPr>
          <a:xfrm>
            <a:off x="658368" y="3429000"/>
            <a:ext cx="7863840" cy="365760"/>
          </a:xfrm>
          <a:prstGeom prst="rect">
            <a:avLst/>
          </a:prstGeom>
          <a:noFill/>
          <a:ln/>
        </p:spPr>
        <p:txBody>
          <a:bodyPr wrap="square"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A disciplined, reproducible workflow — not just the lowest error.</a:t>
            </a:r>
            <a:endParaRPr lang="en-US" sz="1500" dirty="0"/>
          </a:p>
        </p:txBody>
      </p:sp>
      <p:sp>
        <p:nvSpPr>
          <p:cNvPr id="10" name="Text 6"/>
          <p:cNvSpPr/>
          <p:nvPr/>
        </p:nvSpPr>
        <p:spPr>
          <a:xfrm>
            <a:off x="658368" y="4114800"/>
            <a:ext cx="8229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Ames housing dataset</a:t>
            </a:r>
            <a:pPr indent="0" marL="0">
              <a:buNone/>
            </a:pPr>
            <a:r>
              <a:rPr lang="en-US" sz="1300" dirty="0">
                <a:solidFill>
                  <a:srgbClr val="9FB3D1"/>
                </a:solidFill>
                <a:latin typeface="Calibri" pitchFamily="34" charset="0"/>
                <a:ea typeface="Calibri" pitchFamily="34" charset="-122"/>
                <a:cs typeface="Calibri" pitchFamily="34" charset="-120"/>
              </a:rPr>
              <a:t>   ·   1,460 homes · 79 features · TensorFlow / Keras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 1 · BECOME ONE WITH THE DATA</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Problem &amp; dataset</a:t>
            </a:r>
            <a:endParaRPr lang="en-US" sz="2700" dirty="0"/>
          </a:p>
        </p:txBody>
      </p:sp>
      <p:sp>
        <p:nvSpPr>
          <p:cNvPr id="7" name="Shape 3"/>
          <p:cNvSpPr/>
          <p:nvPr/>
        </p:nvSpPr>
        <p:spPr>
          <a:xfrm>
            <a:off x="457200" y="1234440"/>
            <a:ext cx="1828800" cy="1078992"/>
          </a:xfrm>
          <a:prstGeom prst="roundRect">
            <a:avLst>
              <a:gd name="adj" fmla="val 593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8" name="Text 4"/>
          <p:cNvSpPr/>
          <p:nvPr/>
        </p:nvSpPr>
        <p:spPr>
          <a:xfrm>
            <a:off x="457200" y="1353312"/>
            <a:ext cx="1828800" cy="548640"/>
          </a:xfrm>
          <a:prstGeom prst="rect">
            <a:avLst/>
          </a:prstGeom>
          <a:noFill/>
          <a:ln/>
        </p:spPr>
        <p:txBody>
          <a:bodyPr wrap="square" lIns="0" tIns="0" rIns="0" bIns="0" rtlCol="0" anchor="ctr"/>
          <a:lstStyle/>
          <a:p>
            <a:pPr algn="ctr" indent="0" marL="0">
              <a:buNone/>
            </a:pPr>
            <a:r>
              <a:rPr lang="en-US" sz="3000" b="1" dirty="0">
                <a:solidFill>
                  <a:srgbClr val="16243A"/>
                </a:solidFill>
                <a:latin typeface="Cambria" pitchFamily="34" charset="0"/>
                <a:ea typeface="Cambria" pitchFamily="34" charset="-122"/>
                <a:cs typeface="Cambria" pitchFamily="34" charset="-120"/>
              </a:rPr>
              <a:t>1,460</a:t>
            </a:r>
            <a:endParaRPr lang="en-US" sz="3000" dirty="0"/>
          </a:p>
        </p:txBody>
      </p:sp>
      <p:sp>
        <p:nvSpPr>
          <p:cNvPr id="9" name="Text 5"/>
          <p:cNvSpPr/>
          <p:nvPr/>
        </p:nvSpPr>
        <p:spPr>
          <a:xfrm>
            <a:off x="548640" y="1911096"/>
            <a:ext cx="1645920" cy="329184"/>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training homes</a:t>
            </a:r>
            <a:endParaRPr lang="en-US" sz="1050" dirty="0"/>
          </a:p>
        </p:txBody>
      </p:sp>
      <p:sp>
        <p:nvSpPr>
          <p:cNvPr id="10" name="Shape 6"/>
          <p:cNvSpPr/>
          <p:nvPr/>
        </p:nvSpPr>
        <p:spPr>
          <a:xfrm>
            <a:off x="457200" y="2423160"/>
            <a:ext cx="1828800" cy="1078992"/>
          </a:xfrm>
          <a:prstGeom prst="roundRect">
            <a:avLst>
              <a:gd name="adj" fmla="val 593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1" name="Text 7"/>
          <p:cNvSpPr/>
          <p:nvPr/>
        </p:nvSpPr>
        <p:spPr>
          <a:xfrm>
            <a:off x="457200" y="2542032"/>
            <a:ext cx="1828800" cy="548640"/>
          </a:xfrm>
          <a:prstGeom prst="rect">
            <a:avLst/>
          </a:prstGeom>
          <a:noFill/>
          <a:ln/>
        </p:spPr>
        <p:txBody>
          <a:bodyPr wrap="square" lIns="0" tIns="0" rIns="0" bIns="0" rtlCol="0" anchor="ctr"/>
          <a:lstStyle/>
          <a:p>
            <a:pPr algn="ctr" indent="0" marL="0">
              <a:buNone/>
            </a:pPr>
            <a:r>
              <a:rPr lang="en-US" sz="3000" b="1" dirty="0">
                <a:solidFill>
                  <a:srgbClr val="16243A"/>
                </a:solidFill>
                <a:latin typeface="Cambria" pitchFamily="34" charset="0"/>
                <a:ea typeface="Cambria" pitchFamily="34" charset="-122"/>
                <a:cs typeface="Cambria" pitchFamily="34" charset="-120"/>
              </a:rPr>
              <a:t>79</a:t>
            </a:r>
            <a:endParaRPr lang="en-US" sz="3000" dirty="0"/>
          </a:p>
        </p:txBody>
      </p:sp>
      <p:sp>
        <p:nvSpPr>
          <p:cNvPr id="12" name="Text 8"/>
          <p:cNvSpPr/>
          <p:nvPr/>
        </p:nvSpPr>
        <p:spPr>
          <a:xfrm>
            <a:off x="548640" y="3099816"/>
            <a:ext cx="1645920" cy="329184"/>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input features</a:t>
            </a:r>
            <a:endParaRPr lang="en-US" sz="1050" dirty="0"/>
          </a:p>
        </p:txBody>
      </p:sp>
      <p:sp>
        <p:nvSpPr>
          <p:cNvPr id="13" name="Shape 9"/>
          <p:cNvSpPr/>
          <p:nvPr/>
        </p:nvSpPr>
        <p:spPr>
          <a:xfrm>
            <a:off x="457200" y="3611880"/>
            <a:ext cx="1828800" cy="1078992"/>
          </a:xfrm>
          <a:prstGeom prst="roundRect">
            <a:avLst>
              <a:gd name="adj" fmla="val 593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4" name="Text 10"/>
          <p:cNvSpPr/>
          <p:nvPr/>
        </p:nvSpPr>
        <p:spPr>
          <a:xfrm>
            <a:off x="457200" y="3730752"/>
            <a:ext cx="1828800" cy="548640"/>
          </a:xfrm>
          <a:prstGeom prst="rect">
            <a:avLst/>
          </a:prstGeom>
          <a:noFill/>
          <a:ln/>
        </p:spPr>
        <p:txBody>
          <a:bodyPr wrap="square" lIns="0" tIns="0" rIns="0" bIns="0" rtlCol="0" anchor="ctr"/>
          <a:lstStyle/>
          <a:p>
            <a:pPr algn="ctr" indent="0" marL="0">
              <a:buNone/>
            </a:pPr>
            <a:r>
              <a:rPr lang="en-US" sz="3000" b="1" dirty="0">
                <a:solidFill>
                  <a:srgbClr val="16243A"/>
                </a:solidFill>
                <a:latin typeface="Cambria" pitchFamily="34" charset="0"/>
                <a:ea typeface="Cambria" pitchFamily="34" charset="-122"/>
                <a:cs typeface="Cambria" pitchFamily="34" charset="-120"/>
              </a:rPr>
              <a:t>36 / 43</a:t>
            </a:r>
            <a:endParaRPr lang="en-US" sz="3000" dirty="0"/>
          </a:p>
        </p:txBody>
      </p:sp>
      <p:sp>
        <p:nvSpPr>
          <p:cNvPr id="15" name="Text 11"/>
          <p:cNvSpPr/>
          <p:nvPr/>
        </p:nvSpPr>
        <p:spPr>
          <a:xfrm>
            <a:off x="548640" y="4288536"/>
            <a:ext cx="1645920" cy="329184"/>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numeric / categorical</a:t>
            </a:r>
            <a:endParaRPr lang="en-US" sz="1050" dirty="0"/>
          </a:p>
        </p:txBody>
      </p:sp>
      <p:sp>
        <p:nvSpPr>
          <p:cNvPr id="16" name="Shape 12"/>
          <p:cNvSpPr/>
          <p:nvPr/>
        </p:nvSpPr>
        <p:spPr>
          <a:xfrm>
            <a:off x="2514600" y="1234440"/>
            <a:ext cx="6172200" cy="2331720"/>
          </a:xfrm>
          <a:prstGeom prst="roundRect">
            <a:avLst>
              <a:gd name="adj" fmla="val 2745"/>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7" name="Text 13"/>
          <p:cNvSpPr/>
          <p:nvPr/>
        </p:nvSpPr>
        <p:spPr>
          <a:xfrm>
            <a:off x="2697480" y="1371600"/>
            <a:ext cx="5852160" cy="310896"/>
          </a:xfrm>
          <a:prstGeom prst="rect">
            <a:avLst/>
          </a:prstGeom>
          <a:noFill/>
          <a:ln/>
        </p:spPr>
        <p:txBody>
          <a:bodyPr wrap="square" lIns="0" tIns="0" rIns="0" bIns="0" rtlCol="0" anchor="ctr"/>
          <a:lstStyle/>
          <a:p>
            <a:pPr indent="0" marL="0">
              <a:buNone/>
            </a:pPr>
            <a:r>
              <a:rPr lang="en-US" sz="1300" b="1" dirty="0">
                <a:solidFill>
                  <a:srgbClr val="16243A"/>
                </a:solidFill>
                <a:latin typeface="Calibri" pitchFamily="34" charset="0"/>
                <a:ea typeface="Calibri" pitchFamily="34" charset="-122"/>
                <a:cs typeface="Calibri" pitchFamily="34" charset="-120"/>
              </a:rPr>
              <a:t>Target is right-skewed → we model log(price)</a:t>
            </a:r>
            <a:endParaRPr lang="en-US" sz="1300" dirty="0"/>
          </a:p>
        </p:txBody>
      </p:sp>
      <p:pic>
        <p:nvPicPr>
          <p:cNvPr id="18" name="Image 1" descr="figs/fig01.png">    </p:cNvPr>
          <p:cNvPicPr>
            <a:picLocks noChangeAspect="1"/>
          </p:cNvPicPr>
          <p:nvPr/>
        </p:nvPicPr>
        <p:blipFill>
          <a:blip r:embed="rId2"/>
          <a:srcRect l="0" r="0" t="0" b="0"/>
          <a:stretch/>
        </p:blipFill>
        <p:spPr>
          <a:xfrm>
            <a:off x="2697480" y="1755648"/>
            <a:ext cx="5806440" cy="1719072"/>
          </a:xfrm>
          <a:prstGeom prst="rect">
            <a:avLst/>
          </a:prstGeom>
        </p:spPr>
      </p:pic>
      <p:sp>
        <p:nvSpPr>
          <p:cNvPr id="19" name="Shape 14"/>
          <p:cNvSpPr/>
          <p:nvPr/>
        </p:nvSpPr>
        <p:spPr>
          <a:xfrm>
            <a:off x="2514600" y="3703320"/>
            <a:ext cx="2999232" cy="1097280"/>
          </a:xfrm>
          <a:prstGeom prst="roundRect">
            <a:avLst>
              <a:gd name="adj" fmla="val 5833"/>
            </a:avLst>
          </a:prstGeom>
          <a:solidFill>
            <a:srgbClr val="EAF1F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0" name="Text 15"/>
          <p:cNvSpPr/>
          <p:nvPr/>
        </p:nvSpPr>
        <p:spPr>
          <a:xfrm>
            <a:off x="2670048" y="3822192"/>
            <a:ext cx="2706624" cy="868680"/>
          </a:xfrm>
          <a:prstGeom prst="rect">
            <a:avLst/>
          </a:prstGeom>
          <a:noFill/>
          <a:ln/>
        </p:spPr>
        <p:txBody>
          <a:bodyPr wrap="square" lIns="0" tIns="0" rIns="0" bIns="0" rtlCol="0" anchor="t"/>
          <a:lstStyle/>
          <a:p>
            <a:pPr indent="0" marL="0">
              <a:buNone/>
            </a:pPr>
            <a:r>
              <a:rPr lang="en-US" sz="1050" b="1" dirty="0">
                <a:solidFill>
                  <a:srgbClr val="16243A"/>
                </a:solidFill>
                <a:latin typeface="Calibri" pitchFamily="34" charset="0"/>
                <a:ea typeface="Calibri" pitchFamily="34" charset="-122"/>
                <a:cs typeface="Calibri" pitchFamily="34" charset="-120"/>
              </a:rPr>
              <a:t>Why it matters  </a:t>
            </a:r>
            <a:pPr indent="0" marL="0">
              <a:buNone/>
            </a:pPr>
            <a:r>
              <a:rPr lang="en-US" sz="1050" dirty="0">
                <a:solidFill>
                  <a:srgbClr val="1A2436"/>
                </a:solidFill>
                <a:latin typeface="Calibri" pitchFamily="34" charset="0"/>
                <a:ea typeface="Calibri" pitchFamily="34" charset="-122"/>
                <a:cs typeface="Calibri" pitchFamily="34" charset="-120"/>
              </a:rPr>
              <a:t>Skew = 1.88 → 0.12 after log1p. Training in log-space optimises % error across a $35k–$755k range and matches the Kaggle metric.</a:t>
            </a:r>
            <a:endParaRPr lang="en-US" sz="1050" dirty="0"/>
          </a:p>
        </p:txBody>
      </p:sp>
      <p:sp>
        <p:nvSpPr>
          <p:cNvPr id="21" name="Shape 16"/>
          <p:cNvSpPr/>
          <p:nvPr/>
        </p:nvSpPr>
        <p:spPr>
          <a:xfrm>
            <a:off x="5687568" y="3703320"/>
            <a:ext cx="2999232" cy="1097280"/>
          </a:xfrm>
          <a:prstGeom prst="roundRect">
            <a:avLst>
              <a:gd name="adj" fmla="val 5833"/>
            </a:avLst>
          </a:prstGeom>
          <a:solidFill>
            <a:srgbClr val="EAF1F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2" name="Text 17"/>
          <p:cNvSpPr/>
          <p:nvPr/>
        </p:nvSpPr>
        <p:spPr>
          <a:xfrm>
            <a:off x="5843016" y="3822192"/>
            <a:ext cx="2706624" cy="868680"/>
          </a:xfrm>
          <a:prstGeom prst="rect">
            <a:avLst/>
          </a:prstGeom>
          <a:noFill/>
          <a:ln/>
        </p:spPr>
        <p:txBody>
          <a:bodyPr wrap="square" lIns="0" tIns="0" rIns="0" bIns="0" rtlCol="0" anchor="t"/>
          <a:lstStyle/>
          <a:p>
            <a:pPr indent="0" marL="0">
              <a:buNone/>
            </a:pPr>
            <a:r>
              <a:rPr lang="en-US" sz="1050" b="1" dirty="0">
                <a:solidFill>
                  <a:srgbClr val="16243A"/>
                </a:solidFill>
                <a:latin typeface="Calibri" pitchFamily="34" charset="0"/>
                <a:ea typeface="Calibri" pitchFamily="34" charset="-122"/>
                <a:cs typeface="Calibri" pitchFamily="34" charset="-120"/>
              </a:rPr>
              <a:t>Data quality  </a:t>
            </a:r>
            <a:pPr indent="0" marL="0">
              <a:buNone/>
            </a:pPr>
            <a:r>
              <a:rPr lang="en-US" sz="1050" dirty="0">
                <a:solidFill>
                  <a:srgbClr val="1A2436"/>
                </a:solidFill>
                <a:latin typeface="Calibri" pitchFamily="34" charset="0"/>
                <a:ea typeface="Calibri" pitchFamily="34" charset="-122"/>
                <a:cs typeface="Calibri" pitchFamily="34" charset="-120"/>
              </a:rPr>
              <a:t>19 cols have NAs; for 15 of them NA means feature absent (no pool/garage) → kept as category "None". Two abnormal-sale outliers flagged.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METHOD · KARPATHY'S TRAINING RECIPE</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The workflow we followed</a:t>
            </a:r>
            <a:endParaRPr lang="en-US" sz="2700" dirty="0"/>
          </a:p>
        </p:txBody>
      </p:sp>
      <p:sp>
        <p:nvSpPr>
          <p:cNvPr id="7" name="Shape 3"/>
          <p:cNvSpPr/>
          <p:nvPr/>
        </p:nvSpPr>
        <p:spPr>
          <a:xfrm>
            <a:off x="457200" y="1554480"/>
            <a:ext cx="1280160" cy="155448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8" name="Shape 4"/>
          <p:cNvSpPr/>
          <p:nvPr/>
        </p:nvSpPr>
        <p:spPr>
          <a:xfrm>
            <a:off x="914400" y="1737360"/>
            <a:ext cx="365760" cy="365760"/>
          </a:xfrm>
          <a:prstGeom prst="ellipse">
            <a:avLst/>
          </a:prstGeom>
          <a:solidFill>
            <a:srgbClr val="2A9D8F"/>
          </a:solidFill>
          <a:ln/>
        </p:spPr>
      </p:sp>
      <p:sp>
        <p:nvSpPr>
          <p:cNvPr id="9" name="Text 5"/>
          <p:cNvSpPr/>
          <p:nvPr/>
        </p:nvSpPr>
        <p:spPr>
          <a:xfrm>
            <a:off x="914400" y="1737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6"/>
          <p:cNvSpPr/>
          <p:nvPr/>
        </p:nvSpPr>
        <p:spPr>
          <a:xfrm>
            <a:off x="502920" y="2212848"/>
            <a:ext cx="1188720" cy="310896"/>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Data</a:t>
            </a:r>
            <a:endParaRPr lang="en-US" sz="1300" dirty="0"/>
          </a:p>
        </p:txBody>
      </p:sp>
      <p:sp>
        <p:nvSpPr>
          <p:cNvPr id="11" name="Text 7"/>
          <p:cNvSpPr/>
          <p:nvPr/>
        </p:nvSpPr>
        <p:spPr>
          <a:xfrm>
            <a:off x="502920" y="2542032"/>
            <a:ext cx="1188720" cy="457200"/>
          </a:xfrm>
          <a:prstGeom prst="rect">
            <a:avLst/>
          </a:prstGeom>
          <a:noFill/>
          <a:ln/>
        </p:spPr>
        <p:txBody>
          <a:bodyPr wrap="square" lIns="0" tIns="0" rIns="0" bIns="0" rtlCol="0" anchor="ctr"/>
          <a:lstStyle/>
          <a:p>
            <a:pPr algn="ctr" indent="0" marL="0">
              <a:buNone/>
            </a:pPr>
            <a:r>
              <a:rPr lang="en-US" sz="950" dirty="0">
                <a:solidFill>
                  <a:srgbClr val="5B6B82"/>
                </a:solidFill>
                <a:latin typeface="Calibri" pitchFamily="34" charset="0"/>
                <a:ea typeface="Calibri" pitchFamily="34" charset="-122"/>
                <a:cs typeface="Calibri" pitchFamily="34" charset="-120"/>
              </a:rPr>
              <a:t>understand it first</a:t>
            </a:r>
            <a:endParaRPr lang="en-US" sz="950" dirty="0"/>
          </a:p>
        </p:txBody>
      </p:sp>
      <p:sp>
        <p:nvSpPr>
          <p:cNvPr id="12" name="Shape 8"/>
          <p:cNvSpPr/>
          <p:nvPr/>
        </p:nvSpPr>
        <p:spPr>
          <a:xfrm>
            <a:off x="1737360" y="2331720"/>
            <a:ext cx="137160" cy="0"/>
          </a:xfrm>
          <a:prstGeom prst="line">
            <a:avLst/>
          </a:prstGeom>
          <a:noFill/>
          <a:ln w="19050">
            <a:solidFill>
              <a:srgbClr val="5B6B82"/>
            </a:solidFill>
            <a:prstDash val="solid"/>
            <a:tailEnd type="triangle"/>
          </a:ln>
        </p:spPr>
      </p:sp>
      <p:sp>
        <p:nvSpPr>
          <p:cNvPr id="13" name="Shape 9"/>
          <p:cNvSpPr/>
          <p:nvPr/>
        </p:nvSpPr>
        <p:spPr>
          <a:xfrm>
            <a:off x="1874520" y="1554480"/>
            <a:ext cx="1280160" cy="155448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4" name="Shape 10"/>
          <p:cNvSpPr/>
          <p:nvPr/>
        </p:nvSpPr>
        <p:spPr>
          <a:xfrm>
            <a:off x="2331720" y="1737360"/>
            <a:ext cx="365760" cy="365760"/>
          </a:xfrm>
          <a:prstGeom prst="ellipse">
            <a:avLst/>
          </a:prstGeom>
          <a:solidFill>
            <a:srgbClr val="2A9D8F"/>
          </a:solidFill>
          <a:ln/>
        </p:spPr>
      </p:sp>
      <p:sp>
        <p:nvSpPr>
          <p:cNvPr id="15" name="Text 11"/>
          <p:cNvSpPr/>
          <p:nvPr/>
        </p:nvSpPr>
        <p:spPr>
          <a:xfrm>
            <a:off x="2331720" y="1737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2"/>
          <p:cNvSpPr/>
          <p:nvPr/>
        </p:nvSpPr>
        <p:spPr>
          <a:xfrm>
            <a:off x="1920240" y="2212848"/>
            <a:ext cx="1188720" cy="310896"/>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Baselines</a:t>
            </a:r>
            <a:endParaRPr lang="en-US" sz="1300" dirty="0"/>
          </a:p>
        </p:txBody>
      </p:sp>
      <p:sp>
        <p:nvSpPr>
          <p:cNvPr id="17" name="Text 13"/>
          <p:cNvSpPr/>
          <p:nvPr/>
        </p:nvSpPr>
        <p:spPr>
          <a:xfrm>
            <a:off x="1920240" y="2542032"/>
            <a:ext cx="1188720" cy="457200"/>
          </a:xfrm>
          <a:prstGeom prst="rect">
            <a:avLst/>
          </a:prstGeom>
          <a:noFill/>
          <a:ln/>
        </p:spPr>
        <p:txBody>
          <a:bodyPr wrap="square" lIns="0" tIns="0" rIns="0" bIns="0" rtlCol="0" anchor="ctr"/>
          <a:lstStyle/>
          <a:p>
            <a:pPr algn="ctr" indent="0" marL="0">
              <a:buNone/>
            </a:pPr>
            <a:r>
              <a:rPr lang="en-US" sz="950" dirty="0">
                <a:solidFill>
                  <a:srgbClr val="5B6B82"/>
                </a:solidFill>
                <a:latin typeface="Calibri" pitchFamily="34" charset="0"/>
                <a:ea typeface="Calibri" pitchFamily="34" charset="-122"/>
                <a:cs typeface="Calibri" pitchFamily="34" charset="-120"/>
              </a:rPr>
              <a:t>dumb references</a:t>
            </a:r>
            <a:endParaRPr lang="en-US" sz="950" dirty="0"/>
          </a:p>
        </p:txBody>
      </p:sp>
      <p:sp>
        <p:nvSpPr>
          <p:cNvPr id="18" name="Shape 14"/>
          <p:cNvSpPr/>
          <p:nvPr/>
        </p:nvSpPr>
        <p:spPr>
          <a:xfrm>
            <a:off x="3154680" y="2331720"/>
            <a:ext cx="137160" cy="0"/>
          </a:xfrm>
          <a:prstGeom prst="line">
            <a:avLst/>
          </a:prstGeom>
          <a:noFill/>
          <a:ln w="19050">
            <a:solidFill>
              <a:srgbClr val="5B6B82"/>
            </a:solidFill>
            <a:prstDash val="solid"/>
            <a:tailEnd type="triangle"/>
          </a:ln>
        </p:spPr>
      </p:sp>
      <p:sp>
        <p:nvSpPr>
          <p:cNvPr id="19" name="Shape 15"/>
          <p:cNvSpPr/>
          <p:nvPr/>
        </p:nvSpPr>
        <p:spPr>
          <a:xfrm>
            <a:off x="3291840" y="1554480"/>
            <a:ext cx="1280160" cy="155448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0" name="Shape 16"/>
          <p:cNvSpPr/>
          <p:nvPr/>
        </p:nvSpPr>
        <p:spPr>
          <a:xfrm>
            <a:off x="3749040" y="1737360"/>
            <a:ext cx="365760" cy="365760"/>
          </a:xfrm>
          <a:prstGeom prst="ellipse">
            <a:avLst/>
          </a:prstGeom>
          <a:solidFill>
            <a:srgbClr val="2A9D8F"/>
          </a:solidFill>
          <a:ln/>
        </p:spPr>
      </p:sp>
      <p:sp>
        <p:nvSpPr>
          <p:cNvPr id="21" name="Text 17"/>
          <p:cNvSpPr/>
          <p:nvPr/>
        </p:nvSpPr>
        <p:spPr>
          <a:xfrm>
            <a:off x="3749040" y="1737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18"/>
          <p:cNvSpPr/>
          <p:nvPr/>
        </p:nvSpPr>
        <p:spPr>
          <a:xfrm>
            <a:off x="3337560" y="2212848"/>
            <a:ext cx="1188720" cy="310896"/>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Sanity</a:t>
            </a:r>
            <a:endParaRPr lang="en-US" sz="1300" dirty="0"/>
          </a:p>
        </p:txBody>
      </p:sp>
      <p:sp>
        <p:nvSpPr>
          <p:cNvPr id="23" name="Text 19"/>
          <p:cNvSpPr/>
          <p:nvPr/>
        </p:nvSpPr>
        <p:spPr>
          <a:xfrm>
            <a:off x="3337560" y="2542032"/>
            <a:ext cx="1188720" cy="457200"/>
          </a:xfrm>
          <a:prstGeom prst="rect">
            <a:avLst/>
          </a:prstGeom>
          <a:noFill/>
          <a:ln/>
        </p:spPr>
        <p:txBody>
          <a:bodyPr wrap="square" lIns="0" tIns="0" rIns="0" bIns="0" rtlCol="0" anchor="ctr"/>
          <a:lstStyle/>
          <a:p>
            <a:pPr algn="ctr" indent="0" marL="0">
              <a:buNone/>
            </a:pPr>
            <a:r>
              <a:rPr lang="en-US" sz="950" dirty="0">
                <a:solidFill>
                  <a:srgbClr val="5B6B82"/>
                </a:solidFill>
                <a:latin typeface="Calibri" pitchFamily="34" charset="0"/>
                <a:ea typeface="Calibri" pitchFamily="34" charset="-122"/>
                <a:cs typeface="Calibri" pitchFamily="34" charset="-120"/>
              </a:rPr>
              <a:t>trust the pipeline</a:t>
            </a:r>
            <a:endParaRPr lang="en-US" sz="950" dirty="0"/>
          </a:p>
        </p:txBody>
      </p:sp>
      <p:sp>
        <p:nvSpPr>
          <p:cNvPr id="24" name="Shape 20"/>
          <p:cNvSpPr/>
          <p:nvPr/>
        </p:nvSpPr>
        <p:spPr>
          <a:xfrm>
            <a:off x="4572000" y="2331720"/>
            <a:ext cx="137160" cy="0"/>
          </a:xfrm>
          <a:prstGeom prst="line">
            <a:avLst/>
          </a:prstGeom>
          <a:noFill/>
          <a:ln w="19050">
            <a:solidFill>
              <a:srgbClr val="5B6B82"/>
            </a:solidFill>
            <a:prstDash val="solid"/>
            <a:tailEnd type="triangle"/>
          </a:ln>
        </p:spPr>
      </p:sp>
      <p:sp>
        <p:nvSpPr>
          <p:cNvPr id="25" name="Shape 21"/>
          <p:cNvSpPr/>
          <p:nvPr/>
        </p:nvSpPr>
        <p:spPr>
          <a:xfrm>
            <a:off x="4709160" y="1554480"/>
            <a:ext cx="1280160" cy="155448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6" name="Shape 22"/>
          <p:cNvSpPr/>
          <p:nvPr/>
        </p:nvSpPr>
        <p:spPr>
          <a:xfrm>
            <a:off x="5166360" y="1737360"/>
            <a:ext cx="365760" cy="365760"/>
          </a:xfrm>
          <a:prstGeom prst="ellipse">
            <a:avLst/>
          </a:prstGeom>
          <a:solidFill>
            <a:srgbClr val="E9B949"/>
          </a:solidFill>
          <a:ln/>
        </p:spPr>
      </p:sp>
      <p:sp>
        <p:nvSpPr>
          <p:cNvPr id="27" name="Text 23"/>
          <p:cNvSpPr/>
          <p:nvPr/>
        </p:nvSpPr>
        <p:spPr>
          <a:xfrm>
            <a:off x="5166360" y="1737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8" name="Text 24"/>
          <p:cNvSpPr/>
          <p:nvPr/>
        </p:nvSpPr>
        <p:spPr>
          <a:xfrm>
            <a:off x="4754880" y="2212848"/>
            <a:ext cx="1188720" cy="310896"/>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Overfit</a:t>
            </a:r>
            <a:endParaRPr lang="en-US" sz="1300" dirty="0"/>
          </a:p>
        </p:txBody>
      </p:sp>
      <p:sp>
        <p:nvSpPr>
          <p:cNvPr id="29" name="Text 25"/>
          <p:cNvSpPr/>
          <p:nvPr/>
        </p:nvSpPr>
        <p:spPr>
          <a:xfrm>
            <a:off x="4754880" y="2542032"/>
            <a:ext cx="1188720" cy="457200"/>
          </a:xfrm>
          <a:prstGeom prst="rect">
            <a:avLst/>
          </a:prstGeom>
          <a:noFill/>
          <a:ln/>
        </p:spPr>
        <p:txBody>
          <a:bodyPr wrap="square" lIns="0" tIns="0" rIns="0" bIns="0" rtlCol="0" anchor="ctr"/>
          <a:lstStyle/>
          <a:p>
            <a:pPr algn="ctr" indent="0" marL="0">
              <a:buNone/>
            </a:pPr>
            <a:r>
              <a:rPr lang="en-US" sz="950" dirty="0">
                <a:solidFill>
                  <a:srgbClr val="5B6B82"/>
                </a:solidFill>
                <a:latin typeface="Calibri" pitchFamily="34" charset="0"/>
                <a:ea typeface="Calibri" pitchFamily="34" charset="-122"/>
                <a:cs typeface="Calibri" pitchFamily="34" charset="-120"/>
              </a:rPr>
              <a:t>prove capacity</a:t>
            </a:r>
            <a:endParaRPr lang="en-US" sz="950" dirty="0"/>
          </a:p>
        </p:txBody>
      </p:sp>
      <p:sp>
        <p:nvSpPr>
          <p:cNvPr id="30" name="Shape 26"/>
          <p:cNvSpPr/>
          <p:nvPr/>
        </p:nvSpPr>
        <p:spPr>
          <a:xfrm>
            <a:off x="5989320" y="2331720"/>
            <a:ext cx="137160" cy="0"/>
          </a:xfrm>
          <a:prstGeom prst="line">
            <a:avLst/>
          </a:prstGeom>
          <a:noFill/>
          <a:ln w="19050">
            <a:solidFill>
              <a:srgbClr val="5B6B82"/>
            </a:solidFill>
            <a:prstDash val="solid"/>
            <a:tailEnd type="triangle"/>
          </a:ln>
        </p:spPr>
      </p:sp>
      <p:sp>
        <p:nvSpPr>
          <p:cNvPr id="31" name="Shape 27"/>
          <p:cNvSpPr/>
          <p:nvPr/>
        </p:nvSpPr>
        <p:spPr>
          <a:xfrm>
            <a:off x="6126480" y="1554480"/>
            <a:ext cx="1280160" cy="155448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32" name="Shape 28"/>
          <p:cNvSpPr/>
          <p:nvPr/>
        </p:nvSpPr>
        <p:spPr>
          <a:xfrm>
            <a:off x="6583680" y="1737360"/>
            <a:ext cx="365760" cy="365760"/>
          </a:xfrm>
          <a:prstGeom prst="ellipse">
            <a:avLst/>
          </a:prstGeom>
          <a:solidFill>
            <a:srgbClr val="E9B949"/>
          </a:solidFill>
          <a:ln/>
        </p:spPr>
      </p:sp>
      <p:sp>
        <p:nvSpPr>
          <p:cNvPr id="33" name="Text 29"/>
          <p:cNvSpPr/>
          <p:nvPr/>
        </p:nvSpPr>
        <p:spPr>
          <a:xfrm>
            <a:off x="6583680" y="1737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4" name="Text 30"/>
          <p:cNvSpPr/>
          <p:nvPr/>
        </p:nvSpPr>
        <p:spPr>
          <a:xfrm>
            <a:off x="6172200" y="2212848"/>
            <a:ext cx="1188720" cy="310896"/>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Regularize</a:t>
            </a:r>
            <a:endParaRPr lang="en-US" sz="1300" dirty="0"/>
          </a:p>
        </p:txBody>
      </p:sp>
      <p:sp>
        <p:nvSpPr>
          <p:cNvPr id="35" name="Text 31"/>
          <p:cNvSpPr/>
          <p:nvPr/>
        </p:nvSpPr>
        <p:spPr>
          <a:xfrm>
            <a:off x="6172200" y="2542032"/>
            <a:ext cx="1188720" cy="457200"/>
          </a:xfrm>
          <a:prstGeom prst="rect">
            <a:avLst/>
          </a:prstGeom>
          <a:noFill/>
          <a:ln/>
        </p:spPr>
        <p:txBody>
          <a:bodyPr wrap="square" lIns="0" tIns="0" rIns="0" bIns="0" rtlCol="0" anchor="ctr"/>
          <a:lstStyle/>
          <a:p>
            <a:pPr algn="ctr" indent="0" marL="0">
              <a:buNone/>
            </a:pPr>
            <a:r>
              <a:rPr lang="en-US" sz="950" dirty="0">
                <a:solidFill>
                  <a:srgbClr val="5B6B82"/>
                </a:solidFill>
                <a:latin typeface="Calibri" pitchFamily="34" charset="0"/>
                <a:ea typeface="Calibri" pitchFamily="34" charset="-122"/>
                <a:cs typeface="Calibri" pitchFamily="34" charset="-120"/>
              </a:rPr>
              <a:t>close the gap</a:t>
            </a:r>
            <a:endParaRPr lang="en-US" sz="950" dirty="0"/>
          </a:p>
        </p:txBody>
      </p:sp>
      <p:sp>
        <p:nvSpPr>
          <p:cNvPr id="36" name="Shape 32"/>
          <p:cNvSpPr/>
          <p:nvPr/>
        </p:nvSpPr>
        <p:spPr>
          <a:xfrm>
            <a:off x="7406640" y="2331720"/>
            <a:ext cx="137160" cy="0"/>
          </a:xfrm>
          <a:prstGeom prst="line">
            <a:avLst/>
          </a:prstGeom>
          <a:noFill/>
          <a:ln w="19050">
            <a:solidFill>
              <a:srgbClr val="5B6B82"/>
            </a:solidFill>
            <a:prstDash val="solid"/>
            <a:tailEnd type="triangle"/>
          </a:ln>
        </p:spPr>
      </p:sp>
      <p:sp>
        <p:nvSpPr>
          <p:cNvPr id="37" name="Shape 33"/>
          <p:cNvSpPr/>
          <p:nvPr/>
        </p:nvSpPr>
        <p:spPr>
          <a:xfrm>
            <a:off x="7543800" y="1554480"/>
            <a:ext cx="1280160" cy="155448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38" name="Shape 34"/>
          <p:cNvSpPr/>
          <p:nvPr/>
        </p:nvSpPr>
        <p:spPr>
          <a:xfrm>
            <a:off x="8001000" y="1737360"/>
            <a:ext cx="365760" cy="365760"/>
          </a:xfrm>
          <a:prstGeom prst="ellipse">
            <a:avLst/>
          </a:prstGeom>
          <a:solidFill>
            <a:srgbClr val="E9B949"/>
          </a:solidFill>
          <a:ln/>
        </p:spPr>
      </p:sp>
      <p:sp>
        <p:nvSpPr>
          <p:cNvPr id="39" name="Text 35"/>
          <p:cNvSpPr/>
          <p:nvPr/>
        </p:nvSpPr>
        <p:spPr>
          <a:xfrm>
            <a:off x="8001000" y="17373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40" name="Text 36"/>
          <p:cNvSpPr/>
          <p:nvPr/>
        </p:nvSpPr>
        <p:spPr>
          <a:xfrm>
            <a:off x="7589520" y="2212848"/>
            <a:ext cx="1188720" cy="310896"/>
          </a:xfrm>
          <a:prstGeom prst="rect">
            <a:avLst/>
          </a:prstGeom>
          <a:noFill/>
          <a:ln/>
        </p:spPr>
        <p:txBody>
          <a:bodyPr wrap="square" lIns="0" tIns="0" rIns="0" bIns="0" rtlCol="0" anchor="ctr"/>
          <a:lstStyle/>
          <a:p>
            <a:pPr algn="ctr" indent="0" marL="0">
              <a:buNone/>
            </a:pPr>
            <a:r>
              <a:rPr lang="en-US" sz="1300" b="1" dirty="0">
                <a:solidFill>
                  <a:srgbClr val="16243A"/>
                </a:solidFill>
                <a:latin typeface="Calibri" pitchFamily="34" charset="0"/>
                <a:ea typeface="Calibri" pitchFamily="34" charset="-122"/>
                <a:cs typeface="Calibri" pitchFamily="34" charset="-120"/>
              </a:rPr>
              <a:t>Tune</a:t>
            </a:r>
            <a:endParaRPr lang="en-US" sz="1300" dirty="0"/>
          </a:p>
        </p:txBody>
      </p:sp>
      <p:sp>
        <p:nvSpPr>
          <p:cNvPr id="41" name="Text 37"/>
          <p:cNvSpPr/>
          <p:nvPr/>
        </p:nvSpPr>
        <p:spPr>
          <a:xfrm>
            <a:off x="7589520" y="2542032"/>
            <a:ext cx="1188720" cy="457200"/>
          </a:xfrm>
          <a:prstGeom prst="rect">
            <a:avLst/>
          </a:prstGeom>
          <a:noFill/>
          <a:ln/>
        </p:spPr>
        <p:txBody>
          <a:bodyPr wrap="square" lIns="0" tIns="0" rIns="0" bIns="0" rtlCol="0" anchor="ctr"/>
          <a:lstStyle/>
          <a:p>
            <a:pPr algn="ctr" indent="0" marL="0">
              <a:buNone/>
            </a:pPr>
            <a:r>
              <a:rPr lang="en-US" sz="950" dirty="0">
                <a:solidFill>
                  <a:srgbClr val="5B6B82"/>
                </a:solidFill>
                <a:latin typeface="Calibri" pitchFamily="34" charset="0"/>
                <a:ea typeface="Calibri" pitchFamily="34" charset="-122"/>
                <a:cs typeface="Calibri" pitchFamily="34" charset="-120"/>
              </a:rPr>
              <a:t>explore HPs</a:t>
            </a:r>
            <a:endParaRPr lang="en-US" sz="950" dirty="0"/>
          </a:p>
        </p:txBody>
      </p:sp>
      <p:sp>
        <p:nvSpPr>
          <p:cNvPr id="42" name="Shape 38"/>
          <p:cNvSpPr/>
          <p:nvPr/>
        </p:nvSpPr>
        <p:spPr>
          <a:xfrm>
            <a:off x="457200" y="3429000"/>
            <a:ext cx="8229600" cy="1234440"/>
          </a:xfrm>
          <a:prstGeom prst="roundRect">
            <a:avLst>
              <a:gd name="adj" fmla="val 5185"/>
            </a:avLst>
          </a:prstGeom>
          <a:solidFill>
            <a:srgbClr val="16243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43" name="Text 39"/>
          <p:cNvSpPr/>
          <p:nvPr/>
        </p:nvSpPr>
        <p:spPr>
          <a:xfrm>
            <a:off x="731520" y="3584448"/>
            <a:ext cx="7680960" cy="36576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“Trust the pipeline before trusting the model.”</a:t>
            </a:r>
            <a:endParaRPr lang="en-US" sz="1800" dirty="0"/>
          </a:p>
        </p:txBody>
      </p:sp>
      <p:sp>
        <p:nvSpPr>
          <p:cNvPr id="44" name="Text 40"/>
          <p:cNvSpPr/>
          <p:nvPr/>
        </p:nvSpPr>
        <p:spPr>
          <a:xfrm>
            <a:off x="731520" y="4023360"/>
            <a:ext cx="7680960" cy="5486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Every project task maps onto one stage of this recipe. Complexity is added only after the simpler version behaves exactly as expected — each experiment states what changed, why, what we expected, and what happened.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TASKS 2 &amp; 3 · DUMB &amp; CLASSICAL BASELINES</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Baselines — how hard is the problem?</a:t>
            </a:r>
            <a:endParaRPr lang="en-US" sz="2700" dirty="0"/>
          </a:p>
        </p:txBody>
      </p:sp>
      <p:sp>
        <p:nvSpPr>
          <p:cNvPr id="7" name="Shape 3"/>
          <p:cNvSpPr/>
          <p:nvPr/>
        </p:nvSpPr>
        <p:spPr>
          <a:xfrm>
            <a:off x="457200" y="1280160"/>
            <a:ext cx="5074920" cy="3429000"/>
          </a:xfrm>
          <a:prstGeom prst="roundRect">
            <a:avLst>
              <a:gd name="adj" fmla="val 1867"/>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graphicFrame>
        <p:nvGraphicFramePr>
          <p:cNvPr id="8" name="Chart 0" descr=""/>
          <p:cNvGraphicFramePr/>
          <p:nvPr/>
        </p:nvGraphicFramePr>
        <p:xfrm>
          <a:off x="594360" y="1463040"/>
          <a:ext cx="4800600" cy="30632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715000" y="1280160"/>
            <a:ext cx="2971800" cy="1024128"/>
          </a:xfrm>
          <a:prstGeom prst="roundRect">
            <a:avLst>
              <a:gd name="adj" fmla="val 6250"/>
            </a:avLst>
          </a:prstGeom>
          <a:solidFill>
            <a:srgbClr val="EAF1F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0" name="Text 5"/>
          <p:cNvSpPr/>
          <p:nvPr/>
        </p:nvSpPr>
        <p:spPr>
          <a:xfrm>
            <a:off x="5870448" y="1389888"/>
            <a:ext cx="2679192" cy="822960"/>
          </a:xfrm>
          <a:prstGeom prst="rect">
            <a:avLst/>
          </a:prstGeom>
          <a:noFill/>
          <a:ln/>
        </p:spPr>
        <p:txBody>
          <a:bodyPr wrap="square" lIns="0" tIns="0" rIns="0" bIns="0" rtlCol="0" anchor="t"/>
          <a:lstStyle/>
          <a:p>
            <a:pPr indent="0" marL="0">
              <a:buNone/>
            </a:pPr>
            <a:r>
              <a:rPr lang="en-US" sz="1100" b="1" dirty="0">
                <a:solidFill>
                  <a:srgbClr val="16243A"/>
                </a:solidFill>
                <a:latin typeface="Calibri" pitchFamily="34" charset="0"/>
                <a:ea typeface="Calibri" pitchFamily="34" charset="-122"/>
                <a:cs typeface="Calibri" pitchFamily="34" charset="-120"/>
              </a:rPr>
              <a:t>Predicting the mean is weak  </a:t>
            </a:r>
            <a:pPr indent="0" marL="0">
              <a:buNone/>
            </a:pPr>
            <a:r>
              <a:rPr lang="en-US" sz="1100" dirty="0">
                <a:solidFill>
                  <a:srgbClr val="1A2436"/>
                </a:solidFill>
                <a:latin typeface="Calibri" pitchFamily="34" charset="0"/>
                <a:ea typeface="Calibri" pitchFamily="34" charset="-122"/>
                <a:cs typeface="Calibri" pitchFamily="34" charset="-120"/>
              </a:rPr>
              <a:t>≈ $88k RMSE. Any real model must crush this reference.</a:t>
            </a:r>
            <a:endParaRPr lang="en-US" sz="1100" dirty="0"/>
          </a:p>
        </p:txBody>
      </p:sp>
      <p:sp>
        <p:nvSpPr>
          <p:cNvPr id="11" name="Shape 6"/>
          <p:cNvSpPr/>
          <p:nvPr/>
        </p:nvSpPr>
        <p:spPr>
          <a:xfrm>
            <a:off x="5715000" y="2395728"/>
            <a:ext cx="2971800" cy="1024128"/>
          </a:xfrm>
          <a:prstGeom prst="roundRect">
            <a:avLst>
              <a:gd name="adj" fmla="val 6250"/>
            </a:avLst>
          </a:prstGeom>
          <a:solidFill>
            <a:srgbClr val="EAF1F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2" name="Text 7"/>
          <p:cNvSpPr/>
          <p:nvPr/>
        </p:nvSpPr>
        <p:spPr>
          <a:xfrm>
            <a:off x="5870448" y="2505456"/>
            <a:ext cx="2679192" cy="822960"/>
          </a:xfrm>
          <a:prstGeom prst="rect">
            <a:avLst/>
          </a:prstGeom>
          <a:noFill/>
          <a:ln/>
        </p:spPr>
        <p:txBody>
          <a:bodyPr wrap="square" lIns="0" tIns="0" rIns="0" bIns="0" rtlCol="0" anchor="t"/>
          <a:lstStyle/>
          <a:p>
            <a:pPr indent="0" marL="0">
              <a:buNone/>
            </a:pPr>
            <a:r>
              <a:rPr lang="en-US" sz="1100" b="1" dirty="0">
                <a:solidFill>
                  <a:srgbClr val="2A9D8F"/>
                </a:solidFill>
                <a:latin typeface="Calibri" pitchFamily="34" charset="0"/>
                <a:ea typeface="Calibri" pitchFamily="34" charset="-122"/>
                <a:cs typeface="Calibri" pitchFamily="34" charset="-120"/>
              </a:rPr>
              <a:t>Linear regression is strong  </a:t>
            </a:r>
            <a:pPr indent="0" marL="0">
              <a:buNone/>
            </a:pPr>
            <a:r>
              <a:rPr lang="en-US" sz="1100" dirty="0">
                <a:solidFill>
                  <a:srgbClr val="1A2436"/>
                </a:solidFill>
                <a:latin typeface="Calibri" pitchFamily="34" charset="0"/>
                <a:ea typeface="Calibri" pitchFamily="34" charset="-122"/>
                <a:cs typeface="Calibri" pitchFamily="34" charset="-120"/>
              </a:rPr>
              <a:t>RMSE ≈ $23k, RMSE(log) 0.13 on well-prepared features.</a:t>
            </a:r>
            <a:endParaRPr lang="en-US" sz="1100" dirty="0"/>
          </a:p>
        </p:txBody>
      </p:sp>
      <p:sp>
        <p:nvSpPr>
          <p:cNvPr id="13" name="Shape 8"/>
          <p:cNvSpPr/>
          <p:nvPr/>
        </p:nvSpPr>
        <p:spPr>
          <a:xfrm>
            <a:off x="5715000" y="3511296"/>
            <a:ext cx="2971800" cy="1197864"/>
          </a:xfrm>
          <a:prstGeom prst="roundRect">
            <a:avLst>
              <a:gd name="adj" fmla="val 5344"/>
            </a:avLst>
          </a:prstGeom>
          <a:solidFill>
            <a:srgbClr val="16243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4" name="Text 9"/>
          <p:cNvSpPr/>
          <p:nvPr/>
        </p:nvSpPr>
        <p:spPr>
          <a:xfrm>
            <a:off x="5870448" y="3630168"/>
            <a:ext cx="2679192" cy="960120"/>
          </a:xfrm>
          <a:prstGeom prst="rect">
            <a:avLst/>
          </a:prstGeom>
          <a:noFill/>
          <a:ln/>
        </p:spPr>
        <p:txBody>
          <a:bodyPr wrap="square" lIns="0" tIns="0" rIns="0" bIns="0" rtlCol="0" anchor="t"/>
          <a:lstStyle/>
          <a:p>
            <a:pPr indent="0" marL="0">
              <a:buNone/>
            </a:pPr>
            <a:r>
              <a:rPr lang="en-US" sz="1150" b="1" dirty="0">
                <a:solidFill>
                  <a:srgbClr val="E9B949"/>
                </a:solidFill>
                <a:latin typeface="Calibri" pitchFamily="34" charset="0"/>
                <a:ea typeface="Calibri" pitchFamily="34" charset="-122"/>
                <a:cs typeface="Calibri" pitchFamily="34" charset="-120"/>
              </a:rPr>
              <a:t>The big question  </a:t>
            </a:r>
            <a:pPr indent="0" marL="0">
              <a:buNone/>
            </a:pPr>
            <a:r>
              <a:rPr lang="en-US" sz="1150" dirty="0">
                <a:solidFill>
                  <a:srgbClr val="FFFFFF"/>
                </a:solidFill>
                <a:latin typeface="Calibri" pitchFamily="34" charset="0"/>
                <a:ea typeface="Calibri" pitchFamily="34" charset="-122"/>
                <a:cs typeface="Calibri" pitchFamily="34" charset="-120"/>
              </a:rPr>
              <a:t>On small structured tabular data, classical models are tough to beat. Is Deep Learning even justified here?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 4 · TRAINING SUCCESS ≠ CORRECT LEARNING</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Pipeline verification &amp; sanity checks</a:t>
            </a:r>
            <a:endParaRPr lang="en-US" sz="2700" dirty="0"/>
          </a:p>
        </p:txBody>
      </p:sp>
      <p:sp>
        <p:nvSpPr>
          <p:cNvPr id="7" name="Shape 3"/>
          <p:cNvSpPr/>
          <p:nvPr/>
        </p:nvSpPr>
        <p:spPr>
          <a:xfrm>
            <a:off x="457200" y="1371600"/>
            <a:ext cx="2624328" cy="1874520"/>
          </a:xfrm>
          <a:prstGeom prst="roundRect">
            <a:avLst>
              <a:gd name="adj" fmla="val 3415"/>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8" name="Shape 4"/>
          <p:cNvSpPr/>
          <p:nvPr/>
        </p:nvSpPr>
        <p:spPr>
          <a:xfrm>
            <a:off x="658368" y="1572768"/>
            <a:ext cx="457200" cy="457200"/>
          </a:xfrm>
          <a:prstGeom prst="ellipse">
            <a:avLst/>
          </a:prstGeom>
          <a:solidFill>
            <a:srgbClr val="2A9D8F"/>
          </a:solidFill>
          <a:ln/>
        </p:spPr>
      </p:sp>
      <p:pic>
        <p:nvPicPr>
          <p:cNvPr id="9" name="Image 1" descr="preencoded.png">    </p:cNvPr>
          <p:cNvPicPr>
            <a:picLocks noChangeAspect="1"/>
          </p:cNvPicPr>
          <p:nvPr/>
        </p:nvPicPr>
        <p:blipFill>
          <a:blip r:embed="rId2"/>
          <a:stretch>
            <a:fillRect/>
          </a:stretch>
        </p:blipFill>
        <p:spPr>
          <a:xfrm>
            <a:off x="749808" y="1664208"/>
            <a:ext cx="274320" cy="274320"/>
          </a:xfrm>
          <a:prstGeom prst="rect">
            <a:avLst/>
          </a:prstGeom>
        </p:spPr>
      </p:pic>
      <p:sp>
        <p:nvSpPr>
          <p:cNvPr id="10" name="Text 5"/>
          <p:cNvSpPr/>
          <p:nvPr/>
        </p:nvSpPr>
        <p:spPr>
          <a:xfrm>
            <a:off x="1234440" y="1591056"/>
            <a:ext cx="1737360" cy="420624"/>
          </a:xfrm>
          <a:prstGeom prst="rect">
            <a:avLst/>
          </a:prstGeom>
          <a:noFill/>
          <a:ln/>
        </p:spPr>
        <p:txBody>
          <a:bodyPr wrap="square" lIns="0" tIns="0" rIns="0" bIns="0" rtlCol="0" anchor="ctr"/>
          <a:lstStyle/>
          <a:p>
            <a:pPr indent="0" marL="0">
              <a:buNone/>
            </a:pPr>
            <a:r>
              <a:rPr lang="en-US" sz="1250" b="1" dirty="0">
                <a:solidFill>
                  <a:srgbClr val="16243A"/>
                </a:solidFill>
                <a:latin typeface="Calibri" pitchFamily="34" charset="0"/>
                <a:ea typeface="Calibri" pitchFamily="34" charset="-122"/>
                <a:cs typeface="Calibri" pitchFamily="34" charset="-120"/>
              </a:rPr>
              <a:t>Loss at initialization</a:t>
            </a:r>
            <a:endParaRPr lang="en-US" sz="1250" dirty="0"/>
          </a:p>
        </p:txBody>
      </p:sp>
      <p:sp>
        <p:nvSpPr>
          <p:cNvPr id="11" name="Text 6"/>
          <p:cNvSpPr/>
          <p:nvPr/>
        </p:nvSpPr>
        <p:spPr>
          <a:xfrm>
            <a:off x="658368" y="2121408"/>
            <a:ext cx="2240280" cy="548640"/>
          </a:xfrm>
          <a:prstGeom prst="rect">
            <a:avLst/>
          </a:prstGeom>
          <a:noFill/>
          <a:ln/>
        </p:spPr>
        <p:txBody>
          <a:bodyPr wrap="square" lIns="0" tIns="0" rIns="0" bIns="0" rtlCol="0" anchor="ctr"/>
          <a:lstStyle/>
          <a:p>
            <a:pPr indent="0" marL="0">
              <a:buNone/>
            </a:pPr>
            <a:r>
              <a:rPr lang="en-US" sz="2700" b="1" dirty="0">
                <a:solidFill>
                  <a:srgbClr val="2A9D8F"/>
                </a:solidFill>
                <a:latin typeface="Cambria" pitchFamily="34" charset="0"/>
                <a:ea typeface="Cambria" pitchFamily="34" charset="-122"/>
                <a:cs typeface="Cambria" pitchFamily="34" charset="-120"/>
              </a:rPr>
              <a:t>1.000</a:t>
            </a:r>
            <a:endParaRPr lang="en-US" sz="2700" dirty="0"/>
          </a:p>
        </p:txBody>
      </p:sp>
      <p:sp>
        <p:nvSpPr>
          <p:cNvPr id="12" name="Text 7"/>
          <p:cNvSpPr/>
          <p:nvPr/>
        </p:nvSpPr>
        <p:spPr>
          <a:xfrm>
            <a:off x="658368" y="2697480"/>
            <a:ext cx="2286000" cy="45720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 1.0 expected (standardized target, zero-init output) — OK</a:t>
            </a:r>
            <a:endParaRPr lang="en-US" sz="1000" dirty="0"/>
          </a:p>
        </p:txBody>
      </p:sp>
      <p:sp>
        <p:nvSpPr>
          <p:cNvPr id="13" name="Shape 8"/>
          <p:cNvSpPr/>
          <p:nvPr/>
        </p:nvSpPr>
        <p:spPr>
          <a:xfrm>
            <a:off x="3264408" y="1371600"/>
            <a:ext cx="2624328" cy="1874520"/>
          </a:xfrm>
          <a:prstGeom prst="roundRect">
            <a:avLst>
              <a:gd name="adj" fmla="val 3415"/>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4" name="Shape 9"/>
          <p:cNvSpPr/>
          <p:nvPr/>
        </p:nvSpPr>
        <p:spPr>
          <a:xfrm>
            <a:off x="3465576" y="1572768"/>
            <a:ext cx="457200" cy="457200"/>
          </a:xfrm>
          <a:prstGeom prst="ellipse">
            <a:avLst/>
          </a:prstGeom>
          <a:solidFill>
            <a:srgbClr val="2A9D8F"/>
          </a:solidFill>
          <a:ln/>
        </p:spPr>
      </p:sp>
      <p:pic>
        <p:nvPicPr>
          <p:cNvPr id="15" name="Image 2" descr="preencoded.png">    </p:cNvPr>
          <p:cNvPicPr>
            <a:picLocks noChangeAspect="1"/>
          </p:cNvPicPr>
          <p:nvPr/>
        </p:nvPicPr>
        <p:blipFill>
          <a:blip r:embed="rId3"/>
          <a:stretch>
            <a:fillRect/>
          </a:stretch>
        </p:blipFill>
        <p:spPr>
          <a:xfrm>
            <a:off x="3557016" y="1664208"/>
            <a:ext cx="274320" cy="274320"/>
          </a:xfrm>
          <a:prstGeom prst="rect">
            <a:avLst/>
          </a:prstGeom>
        </p:spPr>
      </p:pic>
      <p:sp>
        <p:nvSpPr>
          <p:cNvPr id="16" name="Text 10"/>
          <p:cNvSpPr/>
          <p:nvPr/>
        </p:nvSpPr>
        <p:spPr>
          <a:xfrm>
            <a:off x="4041648" y="1591056"/>
            <a:ext cx="1737360" cy="420624"/>
          </a:xfrm>
          <a:prstGeom prst="rect">
            <a:avLst/>
          </a:prstGeom>
          <a:noFill/>
          <a:ln/>
        </p:spPr>
        <p:txBody>
          <a:bodyPr wrap="square" lIns="0" tIns="0" rIns="0" bIns="0" rtlCol="0" anchor="ctr"/>
          <a:lstStyle/>
          <a:p>
            <a:pPr indent="0" marL="0">
              <a:buNone/>
            </a:pPr>
            <a:r>
              <a:rPr lang="en-US" sz="1250" b="1" dirty="0">
                <a:solidFill>
                  <a:srgbClr val="16243A"/>
                </a:solidFill>
                <a:latin typeface="Calibri" pitchFamily="34" charset="0"/>
                <a:ea typeface="Calibri" pitchFamily="34" charset="-122"/>
                <a:cs typeface="Calibri" pitchFamily="34" charset="-120"/>
              </a:rPr>
              <a:t>Overfit one tiny batch</a:t>
            </a:r>
            <a:endParaRPr lang="en-US" sz="1250" dirty="0"/>
          </a:p>
        </p:txBody>
      </p:sp>
      <p:sp>
        <p:nvSpPr>
          <p:cNvPr id="17" name="Text 11"/>
          <p:cNvSpPr/>
          <p:nvPr/>
        </p:nvSpPr>
        <p:spPr>
          <a:xfrm>
            <a:off x="3465576" y="2121408"/>
            <a:ext cx="2240280" cy="548640"/>
          </a:xfrm>
          <a:prstGeom prst="rect">
            <a:avLst/>
          </a:prstGeom>
          <a:noFill/>
          <a:ln/>
        </p:spPr>
        <p:txBody>
          <a:bodyPr wrap="square" lIns="0" tIns="0" rIns="0" bIns="0" rtlCol="0" anchor="ctr"/>
          <a:lstStyle/>
          <a:p>
            <a:pPr indent="0" marL="0">
              <a:buNone/>
            </a:pPr>
            <a:r>
              <a:rPr lang="en-US" sz="2700" b="1" dirty="0">
                <a:solidFill>
                  <a:srgbClr val="2A9D8F"/>
                </a:solidFill>
                <a:latin typeface="Cambria" pitchFamily="34" charset="0"/>
                <a:ea typeface="Cambria" pitchFamily="34" charset="-122"/>
                <a:cs typeface="Cambria" pitchFamily="34" charset="-120"/>
              </a:rPr>
              <a:t>≈ 0</a:t>
            </a:r>
            <a:endParaRPr lang="en-US" sz="2700" dirty="0"/>
          </a:p>
        </p:txBody>
      </p:sp>
      <p:sp>
        <p:nvSpPr>
          <p:cNvPr id="18" name="Text 12"/>
          <p:cNvSpPr/>
          <p:nvPr/>
        </p:nvSpPr>
        <p:spPr>
          <a:xfrm>
            <a:off x="3465576" y="2697480"/>
            <a:ext cx="2286000" cy="45720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8 samples driven to ~0 loss → the model can learn</a:t>
            </a:r>
            <a:endParaRPr lang="en-US" sz="1000" dirty="0"/>
          </a:p>
        </p:txBody>
      </p:sp>
      <p:sp>
        <p:nvSpPr>
          <p:cNvPr id="19" name="Shape 13"/>
          <p:cNvSpPr/>
          <p:nvPr/>
        </p:nvSpPr>
        <p:spPr>
          <a:xfrm>
            <a:off x="6071616" y="1371600"/>
            <a:ext cx="2624328" cy="1874520"/>
          </a:xfrm>
          <a:prstGeom prst="roundRect">
            <a:avLst>
              <a:gd name="adj" fmla="val 3415"/>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0" name="Shape 14"/>
          <p:cNvSpPr/>
          <p:nvPr/>
        </p:nvSpPr>
        <p:spPr>
          <a:xfrm>
            <a:off x="6272784" y="1572768"/>
            <a:ext cx="457200" cy="457200"/>
          </a:xfrm>
          <a:prstGeom prst="ellipse">
            <a:avLst/>
          </a:prstGeom>
          <a:solidFill>
            <a:srgbClr val="2A9D8F"/>
          </a:solidFill>
          <a:ln/>
        </p:spPr>
      </p:sp>
      <p:pic>
        <p:nvPicPr>
          <p:cNvPr id="21" name="Image 3" descr="preencoded.png">    </p:cNvPr>
          <p:cNvPicPr>
            <a:picLocks noChangeAspect="1"/>
          </p:cNvPicPr>
          <p:nvPr/>
        </p:nvPicPr>
        <p:blipFill>
          <a:blip r:embed="rId4"/>
          <a:stretch>
            <a:fillRect/>
          </a:stretch>
        </p:blipFill>
        <p:spPr>
          <a:xfrm>
            <a:off x="6364224" y="1664208"/>
            <a:ext cx="274320" cy="274320"/>
          </a:xfrm>
          <a:prstGeom prst="rect">
            <a:avLst/>
          </a:prstGeom>
        </p:spPr>
      </p:pic>
      <p:sp>
        <p:nvSpPr>
          <p:cNvPr id="22" name="Text 15"/>
          <p:cNvSpPr/>
          <p:nvPr/>
        </p:nvSpPr>
        <p:spPr>
          <a:xfrm>
            <a:off x="6848856" y="1591056"/>
            <a:ext cx="1737360" cy="420624"/>
          </a:xfrm>
          <a:prstGeom prst="rect">
            <a:avLst/>
          </a:prstGeom>
          <a:noFill/>
          <a:ln/>
        </p:spPr>
        <p:txBody>
          <a:bodyPr wrap="square" lIns="0" tIns="0" rIns="0" bIns="0" rtlCol="0" anchor="ctr"/>
          <a:lstStyle/>
          <a:p>
            <a:pPr indent="0" marL="0">
              <a:buNone/>
            </a:pPr>
            <a:r>
              <a:rPr lang="en-US" sz="1250" b="1" dirty="0">
                <a:solidFill>
                  <a:srgbClr val="16243A"/>
                </a:solidFill>
                <a:latin typeface="Calibri" pitchFamily="34" charset="0"/>
                <a:ea typeface="Calibri" pitchFamily="34" charset="-122"/>
                <a:cs typeface="Calibri" pitchFamily="34" charset="-120"/>
              </a:rPr>
              <a:t>No data leakage</a:t>
            </a:r>
            <a:endParaRPr lang="en-US" sz="1250" dirty="0"/>
          </a:p>
        </p:txBody>
      </p:sp>
      <p:sp>
        <p:nvSpPr>
          <p:cNvPr id="23" name="Text 16"/>
          <p:cNvSpPr/>
          <p:nvPr/>
        </p:nvSpPr>
        <p:spPr>
          <a:xfrm>
            <a:off x="6272784" y="2121408"/>
            <a:ext cx="2240280" cy="548640"/>
          </a:xfrm>
          <a:prstGeom prst="rect">
            <a:avLst/>
          </a:prstGeom>
          <a:noFill/>
          <a:ln/>
        </p:spPr>
        <p:txBody>
          <a:bodyPr wrap="square" lIns="0" tIns="0" rIns="0" bIns="0" rtlCol="0" anchor="ctr"/>
          <a:lstStyle/>
          <a:p>
            <a:pPr indent="0" marL="0">
              <a:buNone/>
            </a:pPr>
            <a:r>
              <a:rPr lang="en-US" sz="2700" b="1" dirty="0">
                <a:solidFill>
                  <a:srgbClr val="2A9D8F"/>
                </a:solidFill>
                <a:latin typeface="Cambria" pitchFamily="34" charset="0"/>
                <a:ea typeface="Cambria" pitchFamily="34" charset="-122"/>
                <a:cs typeface="Cambria" pitchFamily="34" charset="-120"/>
              </a:rPr>
              <a:t>train-only</a:t>
            </a:r>
            <a:endParaRPr lang="en-US" sz="2700" dirty="0"/>
          </a:p>
        </p:txBody>
      </p:sp>
      <p:sp>
        <p:nvSpPr>
          <p:cNvPr id="24" name="Text 17"/>
          <p:cNvSpPr/>
          <p:nvPr/>
        </p:nvSpPr>
        <p:spPr>
          <a:xfrm>
            <a:off x="6272784" y="2697480"/>
            <a:ext cx="2286000" cy="457200"/>
          </a:xfrm>
          <a:prstGeom prst="rect">
            <a:avLst/>
          </a:prstGeom>
          <a:noFill/>
          <a:ln/>
        </p:spPr>
        <p:txBody>
          <a:bodyPr wrap="square" lIns="0" tIns="0" rIns="0" bIns="0" rtlCol="0" anchor="ctr"/>
          <a:lstStyle/>
          <a:p>
            <a:pPr indent="0" marL="0">
              <a:buNone/>
            </a:pPr>
            <a:r>
              <a:rPr lang="en-US" sz="1000" dirty="0">
                <a:solidFill>
                  <a:srgbClr val="5B6B82"/>
                </a:solidFill>
                <a:latin typeface="Calibri" pitchFamily="34" charset="0"/>
                <a:ea typeface="Calibri" pitchFamily="34" charset="-122"/>
                <a:cs typeface="Calibri" pitchFamily="34" charset="-120"/>
              </a:rPr>
              <a:t>imputer / scaler / one-hot fit on training rows only</a:t>
            </a:r>
            <a:endParaRPr lang="en-US" sz="1000" dirty="0"/>
          </a:p>
        </p:txBody>
      </p:sp>
      <p:sp>
        <p:nvSpPr>
          <p:cNvPr id="25" name="Shape 18"/>
          <p:cNvSpPr/>
          <p:nvPr/>
        </p:nvSpPr>
        <p:spPr>
          <a:xfrm>
            <a:off x="457200" y="3429000"/>
            <a:ext cx="4160520" cy="1280160"/>
          </a:xfrm>
          <a:prstGeom prst="roundRect">
            <a:avLst>
              <a:gd name="adj" fmla="val 500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6" name="Text 19"/>
          <p:cNvSpPr/>
          <p:nvPr/>
        </p:nvSpPr>
        <p:spPr>
          <a:xfrm>
            <a:off x="621792" y="3520440"/>
            <a:ext cx="3840480" cy="27432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Overfit-8 loss collapses to zero</a:t>
            </a:r>
            <a:endParaRPr lang="en-US" sz="1150" dirty="0"/>
          </a:p>
        </p:txBody>
      </p:sp>
      <p:pic>
        <p:nvPicPr>
          <p:cNvPr id="27" name="Image 4" descr="figs/fig04.png">    </p:cNvPr>
          <p:cNvPicPr>
            <a:picLocks noChangeAspect="1"/>
          </p:cNvPicPr>
          <p:nvPr/>
        </p:nvPicPr>
        <p:blipFill>
          <a:blip r:embed="rId5"/>
          <a:srcRect l="0" r="0" t="0" b="0"/>
          <a:stretch/>
        </p:blipFill>
        <p:spPr>
          <a:xfrm>
            <a:off x="640080" y="3767328"/>
            <a:ext cx="3840480" cy="896112"/>
          </a:xfrm>
          <a:prstGeom prst="rect">
            <a:avLst/>
          </a:prstGeom>
        </p:spPr>
      </p:pic>
      <p:sp>
        <p:nvSpPr>
          <p:cNvPr id="28" name="Shape 20"/>
          <p:cNvSpPr/>
          <p:nvPr/>
        </p:nvSpPr>
        <p:spPr>
          <a:xfrm>
            <a:off x="4800600" y="3429000"/>
            <a:ext cx="3886200" cy="1280160"/>
          </a:xfrm>
          <a:prstGeom prst="roundRect">
            <a:avLst>
              <a:gd name="adj" fmla="val 5000"/>
            </a:avLst>
          </a:prstGeom>
          <a:solidFill>
            <a:srgbClr val="16243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9" name="Text 21"/>
          <p:cNvSpPr/>
          <p:nvPr/>
        </p:nvSpPr>
        <p:spPr>
          <a:xfrm>
            <a:off x="4983480" y="3566160"/>
            <a:ext cx="3520440" cy="1005840"/>
          </a:xfrm>
          <a:prstGeom prst="rect">
            <a:avLst/>
          </a:prstGeom>
          <a:noFill/>
          <a:ln/>
        </p:spPr>
        <p:txBody>
          <a:bodyPr wrap="square" lIns="0" tIns="0" rIns="0" bIns="0" rtlCol="0" anchor="t"/>
          <a:lstStyle/>
          <a:p>
            <a:pPr indent="0" marL="0">
              <a:buNone/>
            </a:pPr>
            <a:r>
              <a:rPr lang="en-US" sz="1150" b="1" dirty="0">
                <a:solidFill>
                  <a:srgbClr val="E9B949"/>
                </a:solidFill>
                <a:latin typeface="Calibri" pitchFamily="34" charset="0"/>
                <a:ea typeface="Calibri" pitchFamily="34" charset="-122"/>
                <a:cs typeface="Calibri" pitchFamily="34" charset="-120"/>
              </a:rPr>
              <a:t>Why this matters.  </a:t>
            </a:r>
            <a:pPr indent="0" marL="0">
              <a:buNone/>
            </a:pPr>
            <a:r>
              <a:rPr lang="en-US" sz="1150" dirty="0">
                <a:solidFill>
                  <a:srgbClr val="FFFFFF"/>
                </a:solidFill>
                <a:latin typeface="Calibri" pitchFamily="34" charset="0"/>
                <a:ea typeface="Calibri" pitchFamily="34" charset="-122"/>
                <a:cs typeface="Calibri" pitchFamily="34" charset="-120"/>
              </a:rPr>
              <a:t>A running training loop does not imply a correct model. Passing these sanity checks means later results reflect the model, not a silent bug in labels, loss or preprocessing.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 5 · OVERFIT → REGULARIZE → TUNE</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Development — one change at a time</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029200" cy="914400"/>
        </p:xfrm>
        <a:graphic>
          <a:graphicData uri="http://schemas.openxmlformats.org/drawingml/2006/table">
            <a:tbl>
              <a:tblPr/>
              <a:tblGrid>
                <a:gridCol w="960120"/>
                <a:gridCol w="2011680"/>
                <a:gridCol w="1234440"/>
                <a:gridCol w="822960"/>
              </a:tblGrid>
              <a:tr h="384048">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Exp</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What changed</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Why</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Result</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r>
              <a:tr h="566928">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A · plain</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MLP, He init, Adam 3e-4, no reg.</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prove it can fit (overfit)</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$29k</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r>
              <a:tr h="566928">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B · regularized</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 BatchNorm, Dropout 0.3, L2, early stop</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close the train/val gap</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$29k</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r>
              <a:tr h="566928">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C · tuned</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deeper net, Adam vs Nadam</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explore hyperparameters</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algn="l" indent="0" marL="0">
                        <a:buNone/>
                      </a:pPr>
                      <a:r>
                        <a:rPr lang="en-US" sz="1020" dirty="0">
                          <a:solidFill>
                            <a:srgbClr val="1A2436"/>
                          </a:solidFill>
                          <a:latin typeface="Calibri" pitchFamily="34" charset="0"/>
                          <a:ea typeface="Calibri" pitchFamily="34" charset="-122"/>
                          <a:cs typeface="Calibri" pitchFamily="34" charset="-120"/>
                        </a:rPr>
                        <a:t>$28k</a:t>
                      </a:r>
                      <a:endParaRPr lang="en-US" sz="102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r>
            </a:tbl>
          </a:graphicData>
        </a:graphic>
      </p:graphicFrame>
      <p:sp>
        <p:nvSpPr>
          <p:cNvPr id="8" name="Text 3"/>
          <p:cNvSpPr/>
          <p:nvPr/>
        </p:nvSpPr>
        <p:spPr>
          <a:xfrm>
            <a:off x="0" y="0"/>
            <a:ext cx="6858000" cy="0"/>
          </a:xfrm>
          <a:prstGeom prst="rect">
            <a:avLst/>
          </a:prstGeom>
          <a:noFill/>
          <a:ln/>
        </p:spPr>
        <p:txBody>
          <a:bodyPr wrap="square" rtlCol="0" anchor="ctr"/>
          <a:lstStyle/>
          <a:p>
            <a:pPr indent="0" marL="0">
              <a:buNone/>
            </a:pPr>
            <a:endParaRPr lang="en-US" dirty="0"/>
          </a:p>
        </p:txBody>
      </p:sp>
      <p:sp>
        <p:nvSpPr>
          <p:cNvPr id="9" name="Shape 4"/>
          <p:cNvSpPr/>
          <p:nvPr/>
        </p:nvSpPr>
        <p:spPr>
          <a:xfrm>
            <a:off x="5669280" y="1371600"/>
            <a:ext cx="3017520" cy="2240280"/>
          </a:xfrm>
          <a:prstGeom prst="roundRect">
            <a:avLst>
              <a:gd name="adj" fmla="val 2857"/>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0" name="Text 5"/>
          <p:cNvSpPr/>
          <p:nvPr/>
        </p:nvSpPr>
        <p:spPr>
          <a:xfrm>
            <a:off x="5833872" y="1463040"/>
            <a:ext cx="2743200" cy="27432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Regularization closes the gap</a:t>
            </a:r>
            <a:endParaRPr lang="en-US" sz="1150" dirty="0"/>
          </a:p>
        </p:txBody>
      </p:sp>
      <p:pic>
        <p:nvPicPr>
          <p:cNvPr id="11" name="Image 1" descr="figs/fig07.png">    </p:cNvPr>
          <p:cNvPicPr>
            <a:picLocks noChangeAspect="1"/>
          </p:cNvPicPr>
          <p:nvPr/>
        </p:nvPicPr>
        <p:blipFill>
          <a:blip r:embed="rId2"/>
          <a:srcRect l="0" r="0" t="0" b="0"/>
          <a:stretch/>
        </p:blipFill>
        <p:spPr>
          <a:xfrm>
            <a:off x="5779008" y="1783080"/>
            <a:ext cx="2788920" cy="1737360"/>
          </a:xfrm>
          <a:prstGeom prst="rect">
            <a:avLst/>
          </a:prstGeom>
        </p:spPr>
      </p:pic>
      <p:sp>
        <p:nvSpPr>
          <p:cNvPr id="12" name="Shape 6"/>
          <p:cNvSpPr/>
          <p:nvPr/>
        </p:nvSpPr>
        <p:spPr>
          <a:xfrm>
            <a:off x="457200" y="3657600"/>
            <a:ext cx="8229600" cy="1051560"/>
          </a:xfrm>
          <a:prstGeom prst="roundRect">
            <a:avLst>
              <a:gd name="adj" fmla="val 6087"/>
            </a:avLst>
          </a:prstGeom>
          <a:solidFill>
            <a:srgbClr val="16243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3" name="Text 7"/>
          <p:cNvSpPr/>
          <p:nvPr/>
        </p:nvSpPr>
        <p:spPr>
          <a:xfrm>
            <a:off x="731520" y="3794760"/>
            <a:ext cx="7680960" cy="777240"/>
          </a:xfrm>
          <a:prstGeom prst="rect">
            <a:avLst/>
          </a:prstGeom>
          <a:noFill/>
          <a:ln/>
        </p:spPr>
        <p:txBody>
          <a:bodyPr wrap="square" lIns="0" tIns="0" rIns="0" bIns="0" rtlCol="0" anchor="ctr"/>
          <a:lstStyle/>
          <a:p>
            <a:pPr indent="0" marL="0">
              <a:buNone/>
            </a:pPr>
            <a:r>
              <a:rPr lang="en-US" sz="1200" b="1" dirty="0">
                <a:solidFill>
                  <a:srgbClr val="E9B949"/>
                </a:solidFill>
                <a:latin typeface="Calibri" pitchFamily="34" charset="0"/>
                <a:ea typeface="Calibri" pitchFamily="34" charset="-122"/>
                <a:cs typeface="Calibri" pitchFamily="34" charset="-120"/>
              </a:rPr>
              <a:t>Selected final model:  </a:t>
            </a:r>
            <a:pPr indent="0" marL="0">
              <a:buNone/>
            </a:pPr>
            <a:r>
              <a:rPr lang="en-US" sz="1200" dirty="0">
                <a:solidFill>
                  <a:srgbClr val="FFFFFF"/>
                </a:solidFill>
                <a:latin typeface="Calibri" pitchFamily="34" charset="0"/>
                <a:ea typeface="Calibri" pitchFamily="34" charset="-122"/>
                <a:cs typeface="Calibri" pitchFamily="34" charset="-120"/>
              </a:rPr>
              <a:t>NN-B regularized — best validation loss with the restored best checkpoint. Architecture/optimizer tweaks moved the needle far less than regularization, exactly as the recipe predicts.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 6 · METRICS THAT MEAN SOMETHING</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Evaluation &amp; business interpretation</a:t>
            </a:r>
            <a:endParaRPr lang="en-US" sz="2700" dirty="0"/>
          </a:p>
        </p:txBody>
      </p:sp>
      <p:sp>
        <p:nvSpPr>
          <p:cNvPr id="7" name="Shape 3"/>
          <p:cNvSpPr/>
          <p:nvPr/>
        </p:nvSpPr>
        <p:spPr>
          <a:xfrm>
            <a:off x="457200" y="1280160"/>
            <a:ext cx="1828800" cy="1078992"/>
          </a:xfrm>
          <a:prstGeom prst="roundRect">
            <a:avLst>
              <a:gd name="adj" fmla="val 593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8" name="Text 4"/>
          <p:cNvSpPr/>
          <p:nvPr/>
        </p:nvSpPr>
        <p:spPr>
          <a:xfrm>
            <a:off x="457200" y="1399032"/>
            <a:ext cx="1828800" cy="548640"/>
          </a:xfrm>
          <a:prstGeom prst="rect">
            <a:avLst/>
          </a:prstGeom>
          <a:noFill/>
          <a:ln/>
        </p:spPr>
        <p:txBody>
          <a:bodyPr wrap="square" lIns="0" tIns="0" rIns="0" bIns="0" rtlCol="0" anchor="ctr"/>
          <a:lstStyle/>
          <a:p>
            <a:pPr algn="ctr" indent="0" marL="0">
              <a:buNone/>
            </a:pPr>
            <a:r>
              <a:rPr lang="en-US" sz="3000" b="1" dirty="0">
                <a:solidFill>
                  <a:srgbClr val="2A9D8F"/>
                </a:solidFill>
                <a:latin typeface="Cambria" pitchFamily="34" charset="0"/>
                <a:ea typeface="Cambria" pitchFamily="34" charset="-122"/>
                <a:cs typeface="Cambria" pitchFamily="34" charset="-120"/>
              </a:rPr>
              <a:t>$16k</a:t>
            </a:r>
            <a:endParaRPr lang="en-US" sz="3000" dirty="0"/>
          </a:p>
        </p:txBody>
      </p:sp>
      <p:sp>
        <p:nvSpPr>
          <p:cNvPr id="9" name="Text 5"/>
          <p:cNvSpPr/>
          <p:nvPr/>
        </p:nvSpPr>
        <p:spPr>
          <a:xfrm>
            <a:off x="548640" y="1956816"/>
            <a:ext cx="1645920" cy="329184"/>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MAE (avg error)</a:t>
            </a:r>
            <a:endParaRPr lang="en-US" sz="1050" dirty="0"/>
          </a:p>
        </p:txBody>
      </p:sp>
      <p:sp>
        <p:nvSpPr>
          <p:cNvPr id="10" name="Shape 6"/>
          <p:cNvSpPr/>
          <p:nvPr/>
        </p:nvSpPr>
        <p:spPr>
          <a:xfrm>
            <a:off x="457200" y="2450592"/>
            <a:ext cx="1828800" cy="1078992"/>
          </a:xfrm>
          <a:prstGeom prst="roundRect">
            <a:avLst>
              <a:gd name="adj" fmla="val 593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1" name="Text 7"/>
          <p:cNvSpPr/>
          <p:nvPr/>
        </p:nvSpPr>
        <p:spPr>
          <a:xfrm>
            <a:off x="457200" y="2569464"/>
            <a:ext cx="1828800" cy="548640"/>
          </a:xfrm>
          <a:prstGeom prst="rect">
            <a:avLst/>
          </a:prstGeom>
          <a:noFill/>
          <a:ln/>
        </p:spPr>
        <p:txBody>
          <a:bodyPr wrap="square" lIns="0" tIns="0" rIns="0" bIns="0" rtlCol="0" anchor="ctr"/>
          <a:lstStyle/>
          <a:p>
            <a:pPr algn="ctr" indent="0" marL="0">
              <a:buNone/>
            </a:pPr>
            <a:r>
              <a:rPr lang="en-US" sz="3000" b="1" dirty="0">
                <a:solidFill>
                  <a:srgbClr val="2A9D8F"/>
                </a:solidFill>
                <a:latin typeface="Cambria" pitchFamily="34" charset="0"/>
                <a:ea typeface="Cambria" pitchFamily="34" charset="-122"/>
                <a:cs typeface="Cambria" pitchFamily="34" charset="-120"/>
              </a:rPr>
              <a:t>$29k</a:t>
            </a:r>
            <a:endParaRPr lang="en-US" sz="3000" dirty="0"/>
          </a:p>
        </p:txBody>
      </p:sp>
      <p:sp>
        <p:nvSpPr>
          <p:cNvPr id="12" name="Text 8"/>
          <p:cNvSpPr/>
          <p:nvPr/>
        </p:nvSpPr>
        <p:spPr>
          <a:xfrm>
            <a:off x="548640" y="3127248"/>
            <a:ext cx="1645920" cy="329184"/>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RMSE</a:t>
            </a:r>
            <a:endParaRPr lang="en-US" sz="1050" dirty="0"/>
          </a:p>
        </p:txBody>
      </p:sp>
      <p:sp>
        <p:nvSpPr>
          <p:cNvPr id="13" name="Shape 9"/>
          <p:cNvSpPr/>
          <p:nvPr/>
        </p:nvSpPr>
        <p:spPr>
          <a:xfrm>
            <a:off x="457200" y="3621024"/>
            <a:ext cx="1828800" cy="1078992"/>
          </a:xfrm>
          <a:prstGeom prst="roundRect">
            <a:avLst>
              <a:gd name="adj" fmla="val 593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4" name="Text 10"/>
          <p:cNvSpPr/>
          <p:nvPr/>
        </p:nvSpPr>
        <p:spPr>
          <a:xfrm>
            <a:off x="457200" y="3739896"/>
            <a:ext cx="1828800" cy="548640"/>
          </a:xfrm>
          <a:prstGeom prst="rect">
            <a:avLst/>
          </a:prstGeom>
          <a:noFill/>
          <a:ln/>
        </p:spPr>
        <p:txBody>
          <a:bodyPr wrap="square" lIns="0" tIns="0" rIns="0" bIns="0" rtlCol="0" anchor="ctr"/>
          <a:lstStyle/>
          <a:p>
            <a:pPr algn="ctr" indent="0" marL="0">
              <a:buNone/>
            </a:pPr>
            <a:r>
              <a:rPr lang="en-US" sz="3000" b="1" dirty="0">
                <a:solidFill>
                  <a:srgbClr val="E9B949"/>
                </a:solidFill>
                <a:latin typeface="Cambria" pitchFamily="34" charset="0"/>
                <a:ea typeface="Cambria" pitchFamily="34" charset="-122"/>
                <a:cs typeface="Cambria" pitchFamily="34" charset="-120"/>
              </a:rPr>
              <a:t>11%</a:t>
            </a:r>
            <a:endParaRPr lang="en-US" sz="3000" dirty="0"/>
          </a:p>
        </p:txBody>
      </p:sp>
      <p:sp>
        <p:nvSpPr>
          <p:cNvPr id="15" name="Text 11"/>
          <p:cNvSpPr/>
          <p:nvPr/>
        </p:nvSpPr>
        <p:spPr>
          <a:xfrm>
            <a:off x="548640" y="4297680"/>
            <a:ext cx="1645920" cy="329184"/>
          </a:xfrm>
          <a:prstGeom prst="rect">
            <a:avLst/>
          </a:prstGeom>
          <a:noFill/>
          <a:ln/>
        </p:spPr>
        <p:txBody>
          <a:bodyPr wrap="square" lIns="0" tIns="0" rIns="0" bIns="0" rtlCol="0" anchor="ctr"/>
          <a:lstStyle/>
          <a:p>
            <a:pPr algn="ctr" indent="0" marL="0">
              <a:buNone/>
            </a:pPr>
            <a:r>
              <a:rPr lang="en-US" sz="1050" dirty="0">
                <a:solidFill>
                  <a:srgbClr val="5B6B82"/>
                </a:solidFill>
                <a:latin typeface="Calibri" pitchFamily="34" charset="0"/>
                <a:ea typeface="Calibri" pitchFamily="34" charset="-122"/>
                <a:cs typeface="Calibri" pitchFamily="34" charset="-120"/>
              </a:rPr>
              <a:t>of median home price</a:t>
            </a:r>
            <a:endParaRPr lang="en-US" sz="1050" dirty="0"/>
          </a:p>
        </p:txBody>
      </p:sp>
      <p:sp>
        <p:nvSpPr>
          <p:cNvPr id="16" name="Shape 12"/>
          <p:cNvSpPr/>
          <p:nvPr/>
        </p:nvSpPr>
        <p:spPr>
          <a:xfrm>
            <a:off x="2514600" y="1280160"/>
            <a:ext cx="3246120" cy="3429000"/>
          </a:xfrm>
          <a:prstGeom prst="roundRect">
            <a:avLst>
              <a:gd name="adj" fmla="val 197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graphicFrame>
        <p:nvGraphicFramePr>
          <p:cNvPr id="17" name="Chart 0" descr=""/>
          <p:cNvGraphicFramePr/>
          <p:nvPr/>
        </p:nvGraphicFramePr>
        <p:xfrm>
          <a:off x="2651760" y="1463040"/>
          <a:ext cx="2971800" cy="3063240"/>
        </p:xfrm>
        <a:graphic xmlns:a="http://schemas.openxmlformats.org/drawingml/2006/main">
          <a:graphicData uri="http://schemas.openxmlformats.org/drawingml/2006/chart">
            <c:chart xmlns:c="http://schemas.openxmlformats.org/drawingml/2006/chart" r:id="rId2"/>
          </a:graphicData>
        </a:graphic>
      </p:graphicFrame>
      <p:sp>
        <p:nvSpPr>
          <p:cNvPr id="18" name="Shape 13"/>
          <p:cNvSpPr/>
          <p:nvPr/>
        </p:nvSpPr>
        <p:spPr>
          <a:xfrm>
            <a:off x="5943600" y="1280160"/>
            <a:ext cx="2743200" cy="1627632"/>
          </a:xfrm>
          <a:prstGeom prst="roundRect">
            <a:avLst>
              <a:gd name="adj" fmla="val 3933"/>
            </a:avLst>
          </a:prstGeom>
          <a:solidFill>
            <a:srgbClr val="EAF1F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9" name="Text 14"/>
          <p:cNvSpPr/>
          <p:nvPr/>
        </p:nvSpPr>
        <p:spPr>
          <a:xfrm>
            <a:off x="6099048" y="1408176"/>
            <a:ext cx="2468880" cy="1417320"/>
          </a:xfrm>
          <a:prstGeom prst="rect">
            <a:avLst/>
          </a:prstGeom>
          <a:noFill/>
          <a:ln/>
        </p:spPr>
        <p:txBody>
          <a:bodyPr wrap="square" lIns="0" tIns="0" rIns="0" bIns="0" rtlCol="0" anchor="t"/>
          <a:lstStyle/>
          <a:p>
            <a:pPr indent="0" marL="0">
              <a:buNone/>
            </a:pPr>
            <a:r>
              <a:rPr lang="en-US" sz="1100" b="1" dirty="0">
                <a:solidFill>
                  <a:srgbClr val="16243A"/>
                </a:solidFill>
                <a:latin typeface="Calibri" pitchFamily="34" charset="0"/>
                <a:ea typeface="Calibri" pitchFamily="34" charset="-122"/>
                <a:cs typeface="Calibri" pitchFamily="34" charset="-120"/>
              </a:rPr>
              <a:t>What it means.  </a:t>
            </a:r>
            <a:pPr indent="0" marL="0">
              <a:buNone/>
            </a:pPr>
            <a:r>
              <a:rPr lang="en-US" sz="1100" dirty="0">
                <a:solidFill>
                  <a:srgbClr val="1A2436"/>
                </a:solidFill>
                <a:latin typeface="Calibri" pitchFamily="34" charset="0"/>
                <a:ea typeface="Calibri" pitchFamily="34" charset="-122"/>
                <a:cs typeface="Calibri" pitchFamily="34" charset="-120"/>
              </a:rPr>
              <a:t>Predictions typically land within ~$16k of true price (11% of a $154k median). Usable for triage/portfolio estimates; too coarse for a binding individual offer.</a:t>
            </a:r>
            <a:endParaRPr lang="en-US" sz="1100" dirty="0"/>
          </a:p>
        </p:txBody>
      </p:sp>
      <p:sp>
        <p:nvSpPr>
          <p:cNvPr id="20" name="Shape 15"/>
          <p:cNvSpPr/>
          <p:nvPr/>
        </p:nvSpPr>
        <p:spPr>
          <a:xfrm>
            <a:off x="5943600" y="3017520"/>
            <a:ext cx="2743200" cy="1691640"/>
          </a:xfrm>
          <a:prstGeom prst="roundRect">
            <a:avLst>
              <a:gd name="adj" fmla="val 3784"/>
            </a:avLst>
          </a:prstGeom>
          <a:solidFill>
            <a:srgbClr val="16243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1" name="Text 16"/>
          <p:cNvSpPr/>
          <p:nvPr/>
        </p:nvSpPr>
        <p:spPr>
          <a:xfrm>
            <a:off x="6099048" y="3145536"/>
            <a:ext cx="2468880" cy="1463040"/>
          </a:xfrm>
          <a:prstGeom prst="rect">
            <a:avLst/>
          </a:prstGeom>
          <a:noFill/>
          <a:ln/>
        </p:spPr>
        <p:txBody>
          <a:bodyPr wrap="square" lIns="0" tIns="0" rIns="0" bIns="0" rtlCol="0" anchor="t"/>
          <a:lstStyle/>
          <a:p>
            <a:pPr indent="0" marL="0">
              <a:buNone/>
            </a:pPr>
            <a:r>
              <a:rPr lang="en-US" sz="1150" b="1" dirty="0">
                <a:solidFill>
                  <a:srgbClr val="E9B949"/>
                </a:solidFill>
                <a:latin typeface="Calibri" pitchFamily="34" charset="0"/>
                <a:ea typeface="Calibri" pitchFamily="34" charset="-122"/>
                <a:cs typeface="Calibri" pitchFamily="34" charset="-120"/>
              </a:rPr>
              <a:t>Honest verdict.  </a:t>
            </a:r>
            <a:pPr indent="0" marL="0">
              <a:buNone/>
            </a:pPr>
            <a:r>
              <a:rPr lang="en-US" sz="1150" dirty="0">
                <a:solidFill>
                  <a:srgbClr val="FFFFFF"/>
                </a:solidFill>
                <a:latin typeface="Calibri" pitchFamily="34" charset="0"/>
                <a:ea typeface="Calibri" pitchFamily="34" charset="-122"/>
                <a:cs typeface="Calibri" pitchFamily="34" charset="-120"/>
              </a:rPr>
              <a:t>The neural network only matches linear regression — it does not clearly beat it. On small structured data that is the expected outcome, not a failure.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 7 · DO THE MODEL'S REASONS MAKE SENSE?</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Explainability &amp; error analysis</a:t>
            </a:r>
            <a:endParaRPr lang="en-US" sz="2700" dirty="0"/>
          </a:p>
        </p:txBody>
      </p:sp>
      <p:sp>
        <p:nvSpPr>
          <p:cNvPr id="7" name="Shape 3"/>
          <p:cNvSpPr/>
          <p:nvPr/>
        </p:nvSpPr>
        <p:spPr>
          <a:xfrm>
            <a:off x="457200" y="1325880"/>
            <a:ext cx="4114800" cy="3383280"/>
          </a:xfrm>
          <a:prstGeom prst="roundRect">
            <a:avLst>
              <a:gd name="adj" fmla="val 1892"/>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8" name="Text 4"/>
          <p:cNvSpPr/>
          <p:nvPr/>
        </p:nvSpPr>
        <p:spPr>
          <a:xfrm>
            <a:off x="621792" y="1417320"/>
            <a:ext cx="3840480" cy="27432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Permutation importance — top features</a:t>
            </a:r>
            <a:endParaRPr lang="en-US" sz="1150" dirty="0"/>
          </a:p>
        </p:txBody>
      </p:sp>
      <p:pic>
        <p:nvPicPr>
          <p:cNvPr id="9" name="Image 1" descr="figs/fig10.png">    </p:cNvPr>
          <p:cNvPicPr>
            <a:picLocks noChangeAspect="1"/>
          </p:cNvPicPr>
          <p:nvPr/>
        </p:nvPicPr>
        <p:blipFill>
          <a:blip r:embed="rId2"/>
          <a:srcRect l="0" r="0" t="0" b="0"/>
          <a:stretch/>
        </p:blipFill>
        <p:spPr>
          <a:xfrm>
            <a:off x="566928" y="1737360"/>
            <a:ext cx="3886200" cy="2743200"/>
          </a:xfrm>
          <a:prstGeom prst="rect">
            <a:avLst/>
          </a:prstGeom>
        </p:spPr>
      </p:pic>
      <p:sp>
        <p:nvSpPr>
          <p:cNvPr id="10" name="Shape 5"/>
          <p:cNvSpPr/>
          <p:nvPr/>
        </p:nvSpPr>
        <p:spPr>
          <a:xfrm>
            <a:off x="4754880" y="1325880"/>
            <a:ext cx="3931920" cy="1481328"/>
          </a:xfrm>
          <a:prstGeom prst="roundRect">
            <a:avLst>
              <a:gd name="adj" fmla="val 4321"/>
            </a:avLst>
          </a:prstGeom>
          <a:solidFill>
            <a:srgbClr val="EAF1F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1" name="Text 6"/>
          <p:cNvSpPr/>
          <p:nvPr/>
        </p:nvSpPr>
        <p:spPr>
          <a:xfrm>
            <a:off x="4910328" y="1444752"/>
            <a:ext cx="3611880" cy="1280160"/>
          </a:xfrm>
          <a:prstGeom prst="rect">
            <a:avLst/>
          </a:prstGeom>
          <a:noFill/>
          <a:ln/>
        </p:spPr>
        <p:txBody>
          <a:bodyPr wrap="square" lIns="0" tIns="0" rIns="0" bIns="0" rtlCol="0" anchor="t"/>
          <a:lstStyle/>
          <a:p>
            <a:pPr indent="0" marL="0">
              <a:buNone/>
            </a:pPr>
            <a:r>
              <a:rPr lang="en-US" sz="1100" b="1" dirty="0">
                <a:solidFill>
                  <a:srgbClr val="16243A"/>
                </a:solidFill>
                <a:latin typeface="Calibri" pitchFamily="34" charset="0"/>
                <a:ea typeface="Calibri" pitchFamily="34" charset="-122"/>
                <a:cs typeface="Calibri" pitchFamily="34" charset="-120"/>
              </a:rPr>
              <a:t>Sensible drivers.  </a:t>
            </a:r>
            <a:pPr indent="0" marL="0">
              <a:buNone/>
            </a:pPr>
            <a:r>
              <a:rPr lang="en-US" sz="1100" dirty="0">
                <a:solidFill>
                  <a:srgbClr val="1A2436"/>
                </a:solidFill>
                <a:latin typeface="Calibri" pitchFamily="34" charset="0"/>
                <a:ea typeface="Calibri" pitchFamily="34" charset="-122"/>
                <a:cs typeface="Calibri" pitchFamily="34" charset="-120"/>
              </a:rPr>
              <a:t>The network leans on OverallQual, 2ndFlrSF, GrLivArea, GarageCars, 1stFlrSF, Neighborhood — the same factors that topped the EDA correlations. Model logic agrees with domain intuition.</a:t>
            </a:r>
            <a:endParaRPr lang="en-US" sz="1100" dirty="0"/>
          </a:p>
        </p:txBody>
      </p:sp>
      <p:sp>
        <p:nvSpPr>
          <p:cNvPr id="12" name="Shape 7"/>
          <p:cNvSpPr/>
          <p:nvPr/>
        </p:nvSpPr>
        <p:spPr>
          <a:xfrm>
            <a:off x="4754880" y="2926080"/>
            <a:ext cx="3931920" cy="1783080"/>
          </a:xfrm>
          <a:prstGeom prst="roundRect">
            <a:avLst>
              <a:gd name="adj" fmla="val 3590"/>
            </a:avLst>
          </a:prstGeom>
          <a:solidFill>
            <a:srgbClr val="FFFFF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3" name="Text 8"/>
          <p:cNvSpPr/>
          <p:nvPr/>
        </p:nvSpPr>
        <p:spPr>
          <a:xfrm>
            <a:off x="4910328" y="3017520"/>
            <a:ext cx="3611880" cy="27432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Error grows with price (MAE by tier)</a:t>
            </a:r>
            <a:endParaRPr lang="en-US" sz="1150" dirty="0"/>
          </a:p>
        </p:txBody>
      </p:sp>
      <p:pic>
        <p:nvPicPr>
          <p:cNvPr id="14" name="Image 2" descr="figs/fig12.png">    </p:cNvPr>
          <p:cNvPicPr>
            <a:picLocks noChangeAspect="1"/>
          </p:cNvPicPr>
          <p:nvPr/>
        </p:nvPicPr>
        <p:blipFill>
          <a:blip r:embed="rId3"/>
          <a:srcRect l="0" r="0" t="0" b="0"/>
          <a:stretch/>
        </p:blipFill>
        <p:spPr>
          <a:xfrm>
            <a:off x="4846320" y="3310128"/>
            <a:ext cx="3749040" cy="1325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457200" y="384048"/>
            <a:ext cx="566928" cy="566928"/>
          </a:xfrm>
          <a:prstGeom prst="ellipse">
            <a:avLst/>
          </a:prstGeom>
          <a:solidFill>
            <a:srgbClr val="2A9D8F"/>
          </a:solidFill>
          <a:ln/>
          <a:effectLst>
            <a:outerShdw sx="100000" sy="100000" kx="0" ky="0" algn="bl" rotWithShape="0" blurRad="88900" dist="38100" dir="5400000">
              <a:srgbClr val="000000">
                <a:alpha val="13000"/>
              </a:srgbClr>
            </a:outerShdw>
          </a:effectLst>
        </p:spPr>
      </p:sp>
      <p:pic>
        <p:nvPicPr>
          <p:cNvPr id="3" name="Image 0" descr="preencoded.png">    </p:cNvPr>
          <p:cNvPicPr>
            <a:picLocks noChangeAspect="1"/>
          </p:cNvPicPr>
          <p:nvPr/>
        </p:nvPicPr>
        <p:blipFill>
          <a:blip r:embed="rId1"/>
          <a:stretch>
            <a:fillRect/>
          </a:stretch>
        </p:blipFill>
        <p:spPr>
          <a:xfrm>
            <a:off x="581924" y="508772"/>
            <a:ext cx="317480" cy="317480"/>
          </a:xfrm>
          <a:prstGeom prst="rect">
            <a:avLst/>
          </a:prstGeom>
        </p:spPr>
      </p:pic>
      <p:sp>
        <p:nvSpPr>
          <p:cNvPr id="4" name="Text 1"/>
          <p:cNvSpPr/>
          <p:nvPr/>
        </p:nvSpPr>
        <p:spPr>
          <a:xfrm>
            <a:off x="1170432" y="365760"/>
            <a:ext cx="7498080" cy="237744"/>
          </a:xfrm>
          <a:prstGeom prst="rect">
            <a:avLst/>
          </a:prstGeom>
          <a:noFill/>
          <a:ln/>
        </p:spPr>
        <p:txBody>
          <a:bodyPr wrap="square" rtlCol="0" anchor="ctr"/>
          <a:lstStyle/>
          <a:p>
            <a:pPr indent="0" marL="0">
              <a:buNone/>
            </a:pPr>
            <a:r>
              <a:rPr lang="en-US" sz="1100" b="1" spc="200" kern="0" dirty="0">
                <a:solidFill>
                  <a:srgbClr val="2A9D8F"/>
                </a:solidFill>
                <a:latin typeface="Calibri" pitchFamily="34" charset="0"/>
                <a:ea typeface="Calibri" pitchFamily="34" charset="-122"/>
                <a:cs typeface="Calibri" pitchFamily="34" charset="-120"/>
              </a:rPr>
              <a:t>TASK 8 · FROM NOTEBOOK TO PRODUCTION</a:t>
            </a:r>
            <a:endParaRPr lang="en-US" sz="1100" dirty="0"/>
          </a:p>
        </p:txBody>
      </p:sp>
      <p:sp>
        <p:nvSpPr>
          <p:cNvPr id="5" name="Text 2"/>
          <p:cNvSpPr/>
          <p:nvPr/>
        </p:nvSpPr>
        <p:spPr>
          <a:xfrm>
            <a:off x="1170432" y="566928"/>
            <a:ext cx="7498080" cy="502920"/>
          </a:xfrm>
          <a:prstGeom prst="rect">
            <a:avLst/>
          </a:prstGeom>
          <a:noFill/>
          <a:ln/>
        </p:spPr>
        <p:txBody>
          <a:bodyPr wrap="square" rtlCol="0" anchor="ctr"/>
          <a:lstStyle/>
          <a:p>
            <a:pPr indent="0" marL="0">
              <a:buNone/>
            </a:pPr>
            <a:r>
              <a:rPr lang="en-US" sz="2700" b="1" dirty="0">
                <a:solidFill>
                  <a:srgbClr val="16243A"/>
                </a:solidFill>
                <a:latin typeface="Cambria" pitchFamily="34" charset="0"/>
                <a:ea typeface="Cambria" pitchFamily="34" charset="-122"/>
                <a:cs typeface="Cambria" pitchFamily="34" charset="-120"/>
              </a:rPr>
              <a:t>Deployment &amp; monitoring</a:t>
            </a:r>
            <a:endParaRPr lang="en-US" sz="2700" dirty="0"/>
          </a:p>
        </p:txBody>
      </p:sp>
      <p:sp>
        <p:nvSpPr>
          <p:cNvPr id="7" name="Shape 3"/>
          <p:cNvSpPr/>
          <p:nvPr/>
        </p:nvSpPr>
        <p:spPr>
          <a:xfrm>
            <a:off x="457200" y="1325880"/>
            <a:ext cx="1938528" cy="1097280"/>
          </a:xfrm>
          <a:prstGeom prst="roundRect">
            <a:avLst>
              <a:gd name="adj" fmla="val 5833"/>
            </a:avLst>
          </a:prstGeom>
          <a:solidFill>
            <a:srgbClr val="2A9D8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8" name="Text 4"/>
          <p:cNvSpPr/>
          <p:nvPr/>
        </p:nvSpPr>
        <p:spPr>
          <a:xfrm>
            <a:off x="566928" y="1463040"/>
            <a:ext cx="173736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Offline training</a:t>
            </a:r>
            <a:endParaRPr lang="en-US" sz="1250" dirty="0"/>
          </a:p>
        </p:txBody>
      </p:sp>
      <p:sp>
        <p:nvSpPr>
          <p:cNvPr id="9" name="Text 5"/>
          <p:cNvSpPr/>
          <p:nvPr/>
        </p:nvSpPr>
        <p:spPr>
          <a:xfrm>
            <a:off x="566928" y="1828800"/>
            <a:ext cx="1737360" cy="502920"/>
          </a:xfrm>
          <a:prstGeom prst="rect">
            <a:avLst/>
          </a:prstGeom>
          <a:noFill/>
          <a:ln/>
        </p:spPr>
        <p:txBody>
          <a:bodyPr wrap="square" lIns="0" tIns="0" rIns="0" bIns="0" rtlCol="0" anchor="ctr"/>
          <a:lstStyle/>
          <a:p>
            <a:pPr indent="0" marL="0">
              <a:buNone/>
            </a:pPr>
            <a:r>
              <a:rPr lang="en-US" sz="950" dirty="0">
                <a:solidFill>
                  <a:srgbClr val="EAF1FA"/>
                </a:solidFill>
                <a:latin typeface="Calibri" pitchFamily="34" charset="0"/>
                <a:ea typeface="Calibri" pitchFamily="34" charset="-122"/>
                <a:cs typeface="Calibri" pitchFamily="34" charset="-120"/>
              </a:rPr>
              <a:t>monthly on new sales</a:t>
            </a:r>
            <a:endParaRPr lang="en-US" sz="950" dirty="0"/>
          </a:p>
        </p:txBody>
      </p:sp>
      <p:sp>
        <p:nvSpPr>
          <p:cNvPr id="10" name="Shape 6"/>
          <p:cNvSpPr/>
          <p:nvPr/>
        </p:nvSpPr>
        <p:spPr>
          <a:xfrm>
            <a:off x="2395728" y="1874520"/>
            <a:ext cx="182880" cy="0"/>
          </a:xfrm>
          <a:prstGeom prst="line">
            <a:avLst/>
          </a:prstGeom>
          <a:noFill/>
          <a:ln w="25400">
            <a:solidFill>
              <a:srgbClr val="5B6B82"/>
            </a:solidFill>
            <a:prstDash val="solid"/>
            <a:tailEnd type="triangle"/>
          </a:ln>
        </p:spPr>
      </p:sp>
      <p:sp>
        <p:nvSpPr>
          <p:cNvPr id="11" name="Shape 7"/>
          <p:cNvSpPr/>
          <p:nvPr/>
        </p:nvSpPr>
        <p:spPr>
          <a:xfrm>
            <a:off x="2578608" y="1325880"/>
            <a:ext cx="1938528" cy="1097280"/>
          </a:xfrm>
          <a:prstGeom prst="roundRect">
            <a:avLst>
              <a:gd name="adj" fmla="val 5833"/>
            </a:avLst>
          </a:prstGeom>
          <a:solidFill>
            <a:srgbClr val="2A9D8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2" name="Text 8"/>
          <p:cNvSpPr/>
          <p:nvPr/>
        </p:nvSpPr>
        <p:spPr>
          <a:xfrm>
            <a:off x="2688336" y="1463040"/>
            <a:ext cx="173736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Model artifact</a:t>
            </a:r>
            <a:endParaRPr lang="en-US" sz="1250" dirty="0"/>
          </a:p>
        </p:txBody>
      </p:sp>
      <p:sp>
        <p:nvSpPr>
          <p:cNvPr id="13" name="Text 9"/>
          <p:cNvSpPr/>
          <p:nvPr/>
        </p:nvSpPr>
        <p:spPr>
          <a:xfrm>
            <a:off x="2688336" y="1828800"/>
            <a:ext cx="1737360" cy="502920"/>
          </a:xfrm>
          <a:prstGeom prst="rect">
            <a:avLst/>
          </a:prstGeom>
          <a:noFill/>
          <a:ln/>
        </p:spPr>
        <p:txBody>
          <a:bodyPr wrap="square" lIns="0" tIns="0" rIns="0" bIns="0" rtlCol="0" anchor="ctr"/>
          <a:lstStyle/>
          <a:p>
            <a:pPr indent="0" marL="0">
              <a:buNone/>
            </a:pPr>
            <a:r>
              <a:rPr lang="en-US" sz="950" dirty="0">
                <a:solidFill>
                  <a:srgbClr val="EAF1FA"/>
                </a:solidFill>
                <a:latin typeface="Calibri" pitchFamily="34" charset="0"/>
                <a:ea typeface="Calibri" pitchFamily="34" charset="-122"/>
                <a:cs typeface="Calibri" pitchFamily="34" charset="-120"/>
              </a:rPr>
              <a:t>weights + preprocessing + metadata</a:t>
            </a:r>
            <a:endParaRPr lang="en-US" sz="950" dirty="0"/>
          </a:p>
        </p:txBody>
      </p:sp>
      <p:sp>
        <p:nvSpPr>
          <p:cNvPr id="14" name="Shape 10"/>
          <p:cNvSpPr/>
          <p:nvPr/>
        </p:nvSpPr>
        <p:spPr>
          <a:xfrm>
            <a:off x="4517136" y="1874520"/>
            <a:ext cx="182880" cy="0"/>
          </a:xfrm>
          <a:prstGeom prst="line">
            <a:avLst/>
          </a:prstGeom>
          <a:noFill/>
          <a:ln w="25400">
            <a:solidFill>
              <a:srgbClr val="5B6B82"/>
            </a:solidFill>
            <a:prstDash val="solid"/>
            <a:tailEnd type="triangle"/>
          </a:ln>
        </p:spPr>
      </p:sp>
      <p:sp>
        <p:nvSpPr>
          <p:cNvPr id="15" name="Shape 11"/>
          <p:cNvSpPr/>
          <p:nvPr/>
        </p:nvSpPr>
        <p:spPr>
          <a:xfrm>
            <a:off x="4700016" y="1325880"/>
            <a:ext cx="1938528" cy="1097280"/>
          </a:xfrm>
          <a:prstGeom prst="roundRect">
            <a:avLst>
              <a:gd name="adj" fmla="val 5833"/>
            </a:avLst>
          </a:prstGeom>
          <a:solidFill>
            <a:srgbClr val="2A9D8F"/>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6" name="Text 12"/>
          <p:cNvSpPr/>
          <p:nvPr/>
        </p:nvSpPr>
        <p:spPr>
          <a:xfrm>
            <a:off x="4809744" y="1463040"/>
            <a:ext cx="173736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API serving</a:t>
            </a:r>
            <a:endParaRPr lang="en-US" sz="1250" dirty="0"/>
          </a:p>
        </p:txBody>
      </p:sp>
      <p:sp>
        <p:nvSpPr>
          <p:cNvPr id="17" name="Text 13"/>
          <p:cNvSpPr/>
          <p:nvPr/>
        </p:nvSpPr>
        <p:spPr>
          <a:xfrm>
            <a:off x="4809744" y="1828800"/>
            <a:ext cx="1737360" cy="502920"/>
          </a:xfrm>
          <a:prstGeom prst="rect">
            <a:avLst/>
          </a:prstGeom>
          <a:noFill/>
          <a:ln/>
        </p:spPr>
        <p:txBody>
          <a:bodyPr wrap="square" lIns="0" tIns="0" rIns="0" bIns="0" rtlCol="0" anchor="ctr"/>
          <a:lstStyle/>
          <a:p>
            <a:pPr indent="0" marL="0">
              <a:buNone/>
            </a:pPr>
            <a:r>
              <a:rPr lang="en-US" sz="950" dirty="0">
                <a:solidFill>
                  <a:srgbClr val="EAF1FA"/>
                </a:solidFill>
                <a:latin typeface="Calibri" pitchFamily="34" charset="0"/>
                <a:ea typeface="Calibri" pitchFamily="34" charset="-122"/>
                <a:cs typeface="Calibri" pitchFamily="34" charset="-120"/>
              </a:rPr>
              <a:t>single prediction on demand</a:t>
            </a:r>
            <a:endParaRPr lang="en-US" sz="950" dirty="0"/>
          </a:p>
        </p:txBody>
      </p:sp>
      <p:sp>
        <p:nvSpPr>
          <p:cNvPr id="18" name="Shape 14"/>
          <p:cNvSpPr/>
          <p:nvPr/>
        </p:nvSpPr>
        <p:spPr>
          <a:xfrm>
            <a:off x="6638544" y="1874520"/>
            <a:ext cx="182880" cy="0"/>
          </a:xfrm>
          <a:prstGeom prst="line">
            <a:avLst/>
          </a:prstGeom>
          <a:noFill/>
          <a:ln w="25400">
            <a:solidFill>
              <a:srgbClr val="5B6B82"/>
            </a:solidFill>
            <a:prstDash val="solid"/>
            <a:tailEnd type="triangle"/>
          </a:ln>
        </p:spPr>
      </p:sp>
      <p:sp>
        <p:nvSpPr>
          <p:cNvPr id="19" name="Shape 15"/>
          <p:cNvSpPr/>
          <p:nvPr/>
        </p:nvSpPr>
        <p:spPr>
          <a:xfrm>
            <a:off x="6821424" y="1325880"/>
            <a:ext cx="1938528" cy="1097280"/>
          </a:xfrm>
          <a:prstGeom prst="roundRect">
            <a:avLst>
              <a:gd name="adj" fmla="val 5833"/>
            </a:avLst>
          </a:prstGeom>
          <a:solidFill>
            <a:srgbClr val="E9B949"/>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0" name="Text 16"/>
          <p:cNvSpPr/>
          <p:nvPr/>
        </p:nvSpPr>
        <p:spPr>
          <a:xfrm>
            <a:off x="6931152" y="1463040"/>
            <a:ext cx="1737360" cy="36576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Monitoring</a:t>
            </a:r>
            <a:endParaRPr lang="en-US" sz="1250" dirty="0"/>
          </a:p>
        </p:txBody>
      </p:sp>
      <p:sp>
        <p:nvSpPr>
          <p:cNvPr id="21" name="Text 17"/>
          <p:cNvSpPr/>
          <p:nvPr/>
        </p:nvSpPr>
        <p:spPr>
          <a:xfrm>
            <a:off x="6931152" y="1828800"/>
            <a:ext cx="1737360" cy="502920"/>
          </a:xfrm>
          <a:prstGeom prst="rect">
            <a:avLst/>
          </a:prstGeom>
          <a:noFill/>
          <a:ln/>
        </p:spPr>
        <p:txBody>
          <a:bodyPr wrap="square" lIns="0" tIns="0" rIns="0" bIns="0" rtlCol="0" anchor="ctr"/>
          <a:lstStyle/>
          <a:p>
            <a:pPr indent="0" marL="0">
              <a:buNone/>
            </a:pPr>
            <a:r>
              <a:rPr lang="en-US" sz="950" dirty="0">
                <a:solidFill>
                  <a:srgbClr val="EAF1FA"/>
                </a:solidFill>
                <a:latin typeface="Calibri" pitchFamily="34" charset="0"/>
                <a:ea typeface="Calibri" pitchFamily="34" charset="-122"/>
                <a:cs typeface="Calibri" pitchFamily="34" charset="-120"/>
              </a:rPr>
              <a:t>drift + performance decay</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5486400" cy="914400"/>
        </p:xfrm>
        <a:graphic>
          <a:graphicData uri="http://schemas.openxmlformats.org/drawingml/2006/table">
            <a:tbl>
              <a:tblPr/>
              <a:tblGrid>
                <a:gridCol w="1143000"/>
                <a:gridCol w="2423160"/>
                <a:gridCol w="192024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Drift type</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Housing example</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Signal to watch</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16243A"/>
                    </a:solidFill>
                  </a:tcPr>
                </a:tc>
              </a:tr>
              <a:tr h="457200">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Covariate</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new neighbourhoods / home-type mix</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input feature distributions shift</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Label</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general price inflation</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predicted vs realised price diverges</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r>
              <a:tr h="457200">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Concept</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interest-rate / demand changes</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1000" dirty="0">
                          <a:solidFill>
                            <a:srgbClr val="1A2436"/>
                          </a:solidFill>
                          <a:latin typeface="Calibri" pitchFamily="34" charset="0"/>
                          <a:ea typeface="Calibri" pitchFamily="34" charset="-122"/>
                          <a:cs typeface="Calibri" pitchFamily="34" charset="-120"/>
                        </a:rPr>
                        <a:t>error rises though inputs look normal</a:t>
                      </a:r>
                      <a:endParaRPr lang="en-US" sz="1000" dirty="0">
                        <a:latin typeface="Calibri" charset="0"/>
                        <a:ea typeface="Calibri" charset="0"/>
                        <a:cs typeface="Calibri" charset="0"/>
                      </a:endParaRPr>
                    </a:p>
                  </a:txBody>
                  <a:tcPr marL="91440" marR="91440" marT="45720" marB="45720" anchor="ctr">
                    <a:lnL w="12700" cap="flat" cmpd="sng" algn="ctr">
                      <a:solidFill>
                        <a:srgbClr val="D8E0EC"/>
                      </a:solidFill>
                      <a:prstDash val="solid"/>
                      <a:round/>
                      <a:headEnd type="none" w="med" len="med"/>
                      <a:tailEnd type="none" w="med" len="med"/>
                    </a:lnL>
                    <a:lnR w="12700" cap="flat" cmpd="sng" algn="ctr">
                      <a:solidFill>
                        <a:srgbClr val="D8E0EC"/>
                      </a:solidFill>
                      <a:prstDash val="solid"/>
                      <a:round/>
                      <a:headEnd type="none" w="med" len="med"/>
                      <a:tailEnd type="none" w="med" len="med"/>
                    </a:lnR>
                    <a:lnT w="12700" cap="flat" cmpd="sng" algn="ctr">
                      <a:solidFill>
                        <a:srgbClr val="D8E0EC"/>
                      </a:solidFill>
                      <a:prstDash val="solid"/>
                      <a:round/>
                      <a:headEnd type="none" w="med" len="med"/>
                      <a:tailEnd type="none" w="med" len="med"/>
                    </a:lnT>
                    <a:lnB w="12700" cap="flat" cmpd="sng" algn="ctr">
                      <a:solidFill>
                        <a:srgbClr val="D8E0EC"/>
                      </a:solidFill>
                      <a:prstDash val="solid"/>
                      <a:round/>
                      <a:headEnd type="none" w="med" len="med"/>
                      <a:tailEnd type="none" w="med" len="med"/>
                    </a:lnB>
                    <a:solidFill>
                      <a:srgbClr val="FFFFFF"/>
                    </a:solidFill>
                  </a:tcPr>
                </a:tc>
              </a:tr>
            </a:tbl>
          </a:graphicData>
        </a:graphic>
      </p:graphicFrame>
      <p:sp>
        <p:nvSpPr>
          <p:cNvPr id="23" name="Shape 18"/>
          <p:cNvSpPr/>
          <p:nvPr/>
        </p:nvSpPr>
        <p:spPr>
          <a:xfrm>
            <a:off x="6126480" y="2697480"/>
            <a:ext cx="2560320" cy="2011680"/>
          </a:xfrm>
          <a:prstGeom prst="roundRect">
            <a:avLst>
              <a:gd name="adj" fmla="val 3182"/>
            </a:avLst>
          </a:prstGeom>
          <a:solidFill>
            <a:srgbClr val="16243A"/>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4" name="Text 19"/>
          <p:cNvSpPr/>
          <p:nvPr/>
        </p:nvSpPr>
        <p:spPr>
          <a:xfrm>
            <a:off x="6281928" y="2807208"/>
            <a:ext cx="2286000" cy="274320"/>
          </a:xfrm>
          <a:prstGeom prst="rect">
            <a:avLst/>
          </a:prstGeom>
          <a:noFill/>
          <a:ln/>
        </p:spPr>
        <p:txBody>
          <a:bodyPr wrap="square" lIns="0" tIns="0" rIns="0" bIns="0" rtlCol="0" anchor="ctr"/>
          <a:lstStyle/>
          <a:p>
            <a:pPr indent="0" marL="0">
              <a:buNone/>
            </a:pPr>
            <a:r>
              <a:rPr lang="en-US" sz="1250" b="1" dirty="0">
                <a:solidFill>
                  <a:srgbClr val="E9B949"/>
                </a:solidFill>
                <a:latin typeface="Calibri" pitchFamily="34" charset="0"/>
                <a:ea typeface="Calibri" pitchFamily="34" charset="-122"/>
                <a:cs typeface="Calibri" pitchFamily="34" charset="-120"/>
              </a:rPr>
              <a:t>Retraining &amp; fallback</a:t>
            </a:r>
            <a:endParaRPr lang="en-US" sz="1250" dirty="0"/>
          </a:p>
        </p:txBody>
      </p:sp>
      <p:sp>
        <p:nvSpPr>
          <p:cNvPr id="25" name="Text 20"/>
          <p:cNvSpPr/>
          <p:nvPr/>
        </p:nvSpPr>
        <p:spPr>
          <a:xfrm>
            <a:off x="6281928" y="3154680"/>
            <a:ext cx="2286000" cy="15087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Scheduled + drift-triggered retraining; versioned checkpoints for rollback.</a:t>
            </a:r>
            <a:endParaRPr lang="en-US" sz="1050" dirty="0"/>
          </a:p>
          <a:p>
            <a:pPr indent="0" marL="0">
              <a:buNone/>
            </a:pPr>
            <a:endParaRPr lang="en-US" sz="1050" dirty="0"/>
          </a:p>
          <a:p>
            <a:pPr indent="0" marL="0">
              <a:buNone/>
            </a:pPr>
            <a:r>
              <a:rPr lang="en-US" sz="1050" dirty="0">
                <a:solidFill>
                  <a:srgbClr val="CADCFC"/>
                </a:solidFill>
                <a:latin typeface="Calibri" pitchFamily="34" charset="0"/>
                <a:ea typeface="Calibri" pitchFamily="34" charset="-122"/>
                <a:cs typeface="Calibri" pitchFamily="34" charset="-120"/>
              </a:rPr>
              <a:t>Fallback to the linear baseline (or a human appraiser) for luxury / out-of-distribution homes.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43A"/>
        </a:solidFill>
      </p:bgPr>
    </p:bg>
    <p:spTree>
      <p:nvGrpSpPr>
        <p:cNvPr id="1" name=""/>
        <p:cNvGrpSpPr/>
        <p:nvPr/>
      </p:nvGrpSpPr>
      <p:grpSpPr>
        <a:xfrm>
          <a:off x="0" y="0"/>
          <a:ext cx="0" cy="0"/>
          <a:chOff x="0" y="0"/>
          <a:chExt cx="0" cy="0"/>
        </a:xfrm>
      </p:grpSpPr>
      <p:sp>
        <p:nvSpPr>
          <p:cNvPr id="2" name="Shape 0"/>
          <p:cNvSpPr/>
          <p:nvPr/>
        </p:nvSpPr>
        <p:spPr>
          <a:xfrm>
            <a:off x="-1280160" y="3108960"/>
            <a:ext cx="3657600" cy="3657600"/>
          </a:xfrm>
          <a:prstGeom prst="ellipse">
            <a:avLst/>
          </a:prstGeom>
          <a:solidFill>
            <a:srgbClr val="1F3052"/>
          </a:solidFill>
          <a:ln/>
        </p:spPr>
      </p:sp>
      <p:sp>
        <p:nvSpPr>
          <p:cNvPr id="3" name="Shape 1"/>
          <p:cNvSpPr/>
          <p:nvPr/>
        </p:nvSpPr>
        <p:spPr>
          <a:xfrm>
            <a:off x="548640" y="502920"/>
            <a:ext cx="713232" cy="713232"/>
          </a:xfrm>
          <a:prstGeom prst="ellipse">
            <a:avLst/>
          </a:prstGeom>
          <a:solidFill>
            <a:srgbClr val="E9B949"/>
          </a:solidFill>
          <a:ln/>
          <a:effectLst>
            <a:outerShdw sx="100000" sy="100000" kx="0" ky="0" algn="bl" rotWithShape="0" blurRad="88900" dist="38100" dir="5400000">
              <a:srgbClr val="000000">
                <a:alpha val="13000"/>
              </a:srgbClr>
            </a:outerShdw>
          </a:effectLst>
        </p:spPr>
      </p:sp>
      <p:pic>
        <p:nvPicPr>
          <p:cNvPr id="4" name="Image 0" descr="preencoded.png">    </p:cNvPr>
          <p:cNvPicPr>
            <a:picLocks noChangeAspect="1"/>
          </p:cNvPicPr>
          <p:nvPr/>
        </p:nvPicPr>
        <p:blipFill>
          <a:blip r:embed="rId1"/>
          <a:stretch>
            <a:fillRect/>
          </a:stretch>
        </p:blipFill>
        <p:spPr>
          <a:xfrm>
            <a:off x="705551" y="659831"/>
            <a:ext cx="399410" cy="399410"/>
          </a:xfrm>
          <a:prstGeom prst="rect">
            <a:avLst/>
          </a:prstGeom>
        </p:spPr>
      </p:pic>
      <p:sp>
        <p:nvSpPr>
          <p:cNvPr id="6" name="Text 2"/>
          <p:cNvSpPr/>
          <p:nvPr/>
        </p:nvSpPr>
        <p:spPr>
          <a:xfrm>
            <a:off x="1417320" y="548640"/>
            <a:ext cx="6400800" cy="274320"/>
          </a:xfrm>
          <a:prstGeom prst="rect">
            <a:avLst/>
          </a:prstGeom>
          <a:noFill/>
          <a:ln/>
        </p:spPr>
        <p:txBody>
          <a:bodyPr wrap="square" rtlCol="0" anchor="ctr"/>
          <a:lstStyle/>
          <a:p>
            <a:pPr indent="0" marL="0">
              <a:buNone/>
            </a:pPr>
            <a:r>
              <a:rPr lang="en-US" sz="1200" b="1" spc="300" kern="0" dirty="0">
                <a:solidFill>
                  <a:srgbClr val="E9B949"/>
                </a:solidFill>
                <a:latin typeface="Calibri" pitchFamily="34" charset="0"/>
                <a:ea typeface="Calibri" pitchFamily="34" charset="-122"/>
                <a:cs typeface="Calibri" pitchFamily="34" charset="-120"/>
              </a:rPr>
              <a:t>KEY LESSONS</a:t>
            </a:r>
            <a:endParaRPr lang="en-US" sz="1200" dirty="0"/>
          </a:p>
        </p:txBody>
      </p:sp>
      <p:sp>
        <p:nvSpPr>
          <p:cNvPr id="7" name="Text 3"/>
          <p:cNvSpPr/>
          <p:nvPr/>
        </p:nvSpPr>
        <p:spPr>
          <a:xfrm>
            <a:off x="1417320" y="786384"/>
            <a:ext cx="7315200" cy="45720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What the project really taught</a:t>
            </a:r>
            <a:endParaRPr lang="en-US" sz="2600" dirty="0"/>
          </a:p>
        </p:txBody>
      </p:sp>
      <p:sp>
        <p:nvSpPr>
          <p:cNvPr id="8" name="Shape 4"/>
          <p:cNvSpPr/>
          <p:nvPr/>
        </p:nvSpPr>
        <p:spPr>
          <a:xfrm>
            <a:off x="960120" y="1463040"/>
            <a:ext cx="3749040" cy="1481328"/>
          </a:xfrm>
          <a:prstGeom prst="roundRect">
            <a:avLst>
              <a:gd name="adj" fmla="val 4321"/>
            </a:avLst>
          </a:prstGeom>
          <a:solidFill>
            <a:srgbClr val="1F3052"/>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9" name="Shape 5"/>
          <p:cNvSpPr/>
          <p:nvPr/>
        </p:nvSpPr>
        <p:spPr>
          <a:xfrm>
            <a:off x="1161288" y="1664208"/>
            <a:ext cx="310896" cy="310896"/>
          </a:xfrm>
          <a:prstGeom prst="ellipse">
            <a:avLst/>
          </a:prstGeom>
          <a:solidFill>
            <a:srgbClr val="E9B949"/>
          </a:solidFill>
          <a:ln/>
        </p:spPr>
      </p:sp>
      <p:sp>
        <p:nvSpPr>
          <p:cNvPr id="10" name="Text 6"/>
          <p:cNvSpPr/>
          <p:nvPr/>
        </p:nvSpPr>
        <p:spPr>
          <a:xfrm>
            <a:off x="1161288" y="16642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1" name="Text 7"/>
          <p:cNvSpPr/>
          <p:nvPr/>
        </p:nvSpPr>
        <p:spPr>
          <a:xfrm>
            <a:off x="1600200" y="1645920"/>
            <a:ext cx="2926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Was Deep Learning justified?</a:t>
            </a:r>
            <a:endParaRPr lang="en-US" sz="1300" dirty="0"/>
          </a:p>
        </p:txBody>
      </p:sp>
      <p:sp>
        <p:nvSpPr>
          <p:cNvPr id="12" name="Text 8"/>
          <p:cNvSpPr/>
          <p:nvPr/>
        </p:nvSpPr>
        <p:spPr>
          <a:xfrm>
            <a:off x="1179576" y="2066544"/>
            <a:ext cx="3346704" cy="822960"/>
          </a:xfrm>
          <a:prstGeom prst="rect">
            <a:avLst/>
          </a:prstGeom>
          <a:noFill/>
          <a:ln/>
        </p:spPr>
        <p:txBody>
          <a:bodyPr wrap="square" lIns="0" tIns="0" rIns="0" bIns="0" rtlCol="0" anchor="t"/>
          <a:lstStyle/>
          <a:p>
            <a:pPr indent="0" marL="0">
              <a:buNone/>
            </a:pPr>
            <a:r>
              <a:rPr lang="en-US" sz="1030" dirty="0">
                <a:solidFill>
                  <a:srgbClr val="CADCFC"/>
                </a:solidFill>
                <a:latin typeface="Calibri" pitchFamily="34" charset="0"/>
                <a:ea typeface="Calibri" pitchFamily="34" charset="-122"/>
                <a:cs typeface="Calibri" pitchFamily="34" charset="-120"/>
              </a:rPr>
              <a:t>Not clearly. A linear regression matched the tuned network on 1,460 tabular rows — the textbook "DL may be overkill" case. The value was the process.</a:t>
            </a:r>
            <a:endParaRPr lang="en-US" sz="1030" dirty="0"/>
          </a:p>
        </p:txBody>
      </p:sp>
      <p:sp>
        <p:nvSpPr>
          <p:cNvPr id="13" name="Shape 9"/>
          <p:cNvSpPr/>
          <p:nvPr/>
        </p:nvSpPr>
        <p:spPr>
          <a:xfrm>
            <a:off x="4937760" y="1463040"/>
            <a:ext cx="3749040" cy="1481328"/>
          </a:xfrm>
          <a:prstGeom prst="roundRect">
            <a:avLst>
              <a:gd name="adj" fmla="val 4321"/>
            </a:avLst>
          </a:prstGeom>
          <a:solidFill>
            <a:srgbClr val="1F3052"/>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4" name="Shape 10"/>
          <p:cNvSpPr/>
          <p:nvPr/>
        </p:nvSpPr>
        <p:spPr>
          <a:xfrm>
            <a:off x="5138928" y="1664208"/>
            <a:ext cx="310896" cy="310896"/>
          </a:xfrm>
          <a:prstGeom prst="ellipse">
            <a:avLst/>
          </a:prstGeom>
          <a:solidFill>
            <a:srgbClr val="2A9D8F"/>
          </a:solidFill>
          <a:ln/>
        </p:spPr>
      </p:sp>
      <p:sp>
        <p:nvSpPr>
          <p:cNvPr id="15" name="Text 11"/>
          <p:cNvSpPr/>
          <p:nvPr/>
        </p:nvSpPr>
        <p:spPr>
          <a:xfrm>
            <a:off x="5138928" y="16642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6" name="Text 12"/>
          <p:cNvSpPr/>
          <p:nvPr/>
        </p:nvSpPr>
        <p:spPr>
          <a:xfrm>
            <a:off x="5577840" y="1645920"/>
            <a:ext cx="2926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Highest-impact decisions</a:t>
            </a:r>
            <a:endParaRPr lang="en-US" sz="1300" dirty="0"/>
          </a:p>
        </p:txBody>
      </p:sp>
      <p:sp>
        <p:nvSpPr>
          <p:cNvPr id="17" name="Text 13"/>
          <p:cNvSpPr/>
          <p:nvPr/>
        </p:nvSpPr>
        <p:spPr>
          <a:xfrm>
            <a:off x="5157216" y="2066544"/>
            <a:ext cx="3346704" cy="822960"/>
          </a:xfrm>
          <a:prstGeom prst="rect">
            <a:avLst/>
          </a:prstGeom>
          <a:noFill/>
          <a:ln/>
        </p:spPr>
        <p:txBody>
          <a:bodyPr wrap="square" lIns="0" tIns="0" rIns="0" bIns="0" rtlCol="0" anchor="t"/>
          <a:lstStyle/>
          <a:p>
            <a:pPr indent="0" marL="0">
              <a:buNone/>
            </a:pPr>
            <a:r>
              <a:rPr lang="en-US" sz="1030" dirty="0">
                <a:solidFill>
                  <a:srgbClr val="CADCFC"/>
                </a:solidFill>
                <a:latin typeface="Calibri" pitchFamily="34" charset="0"/>
                <a:ea typeface="Calibri" pitchFamily="34" charset="-122"/>
                <a:cs typeface="Calibri" pitchFamily="34" charset="-120"/>
              </a:rPr>
              <a:t>The log-target transform, leakage-free preprocessing, and regularization + early stopping. Architecture tweaks mattered far less.</a:t>
            </a:r>
            <a:endParaRPr lang="en-US" sz="1030" dirty="0"/>
          </a:p>
        </p:txBody>
      </p:sp>
      <p:sp>
        <p:nvSpPr>
          <p:cNvPr id="18" name="Shape 14"/>
          <p:cNvSpPr/>
          <p:nvPr/>
        </p:nvSpPr>
        <p:spPr>
          <a:xfrm>
            <a:off x="960120" y="3090672"/>
            <a:ext cx="3749040" cy="1481328"/>
          </a:xfrm>
          <a:prstGeom prst="roundRect">
            <a:avLst>
              <a:gd name="adj" fmla="val 4321"/>
            </a:avLst>
          </a:prstGeom>
          <a:solidFill>
            <a:srgbClr val="1F3052"/>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19" name="Shape 15"/>
          <p:cNvSpPr/>
          <p:nvPr/>
        </p:nvSpPr>
        <p:spPr>
          <a:xfrm>
            <a:off x="1161288" y="3291840"/>
            <a:ext cx="310896" cy="310896"/>
          </a:xfrm>
          <a:prstGeom prst="ellipse">
            <a:avLst/>
          </a:prstGeom>
          <a:solidFill>
            <a:srgbClr val="2A9D8F"/>
          </a:solidFill>
          <a:ln/>
        </p:spPr>
      </p:sp>
      <p:sp>
        <p:nvSpPr>
          <p:cNvPr id="20" name="Text 16"/>
          <p:cNvSpPr/>
          <p:nvPr/>
        </p:nvSpPr>
        <p:spPr>
          <a:xfrm>
            <a:off x="1161288" y="32918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1" name="Text 17"/>
          <p:cNvSpPr/>
          <p:nvPr/>
        </p:nvSpPr>
        <p:spPr>
          <a:xfrm>
            <a:off x="1600200" y="3273552"/>
            <a:ext cx="2926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Biggest challenge</a:t>
            </a:r>
            <a:endParaRPr lang="en-US" sz="1300" dirty="0"/>
          </a:p>
        </p:txBody>
      </p:sp>
      <p:sp>
        <p:nvSpPr>
          <p:cNvPr id="22" name="Text 18"/>
          <p:cNvSpPr/>
          <p:nvPr/>
        </p:nvSpPr>
        <p:spPr>
          <a:xfrm>
            <a:off x="1179576" y="3694176"/>
            <a:ext cx="3346704" cy="822960"/>
          </a:xfrm>
          <a:prstGeom prst="rect">
            <a:avLst/>
          </a:prstGeom>
          <a:noFill/>
          <a:ln/>
        </p:spPr>
        <p:txBody>
          <a:bodyPr wrap="square" lIns="0" tIns="0" rIns="0" bIns="0" rtlCol="0" anchor="t"/>
          <a:lstStyle/>
          <a:p>
            <a:pPr indent="0" marL="0">
              <a:buNone/>
            </a:pPr>
            <a:r>
              <a:rPr lang="en-US" sz="1030" dirty="0">
                <a:solidFill>
                  <a:srgbClr val="CADCFC"/>
                </a:solidFill>
                <a:latin typeface="Calibri" pitchFamily="34" charset="0"/>
                <a:ea typeface="Calibri" pitchFamily="34" charset="-122"/>
                <a:cs typeface="Calibri" pitchFamily="34" charset="-120"/>
              </a:rPr>
              <a:t>Getting the network to even match the baseline, and large errors on rare luxury / abnormal-sale homes.</a:t>
            </a:r>
            <a:endParaRPr lang="en-US" sz="1030" dirty="0"/>
          </a:p>
        </p:txBody>
      </p:sp>
      <p:sp>
        <p:nvSpPr>
          <p:cNvPr id="23" name="Shape 19"/>
          <p:cNvSpPr/>
          <p:nvPr/>
        </p:nvSpPr>
        <p:spPr>
          <a:xfrm>
            <a:off x="4937760" y="3090672"/>
            <a:ext cx="3749040" cy="1481328"/>
          </a:xfrm>
          <a:prstGeom prst="roundRect">
            <a:avLst>
              <a:gd name="adj" fmla="val 4321"/>
            </a:avLst>
          </a:prstGeom>
          <a:solidFill>
            <a:srgbClr val="1F3052"/>
          </a:solidFill>
          <a:ln w="12700">
            <a:solidFill>
              <a:srgbClr val="D8E0EC"/>
            </a:solidFill>
            <a:prstDash val="solid"/>
          </a:ln>
          <a:effectLst>
            <a:outerShdw sx="100000" sy="100000" kx="0" ky="0" algn="bl" rotWithShape="0" blurRad="88900" dist="38100" dir="5400000">
              <a:srgbClr val="000000">
                <a:alpha val="13000"/>
              </a:srgbClr>
            </a:outerShdw>
          </a:effectLst>
        </p:spPr>
      </p:sp>
      <p:sp>
        <p:nvSpPr>
          <p:cNvPr id="24" name="Shape 20"/>
          <p:cNvSpPr/>
          <p:nvPr/>
        </p:nvSpPr>
        <p:spPr>
          <a:xfrm>
            <a:off x="5138928" y="3291840"/>
            <a:ext cx="310896" cy="310896"/>
          </a:xfrm>
          <a:prstGeom prst="ellipse">
            <a:avLst/>
          </a:prstGeom>
          <a:solidFill>
            <a:srgbClr val="2A9D8F"/>
          </a:solidFill>
          <a:ln/>
        </p:spPr>
      </p:sp>
      <p:sp>
        <p:nvSpPr>
          <p:cNvPr id="25" name="Text 21"/>
          <p:cNvSpPr/>
          <p:nvPr/>
        </p:nvSpPr>
        <p:spPr>
          <a:xfrm>
            <a:off x="5138928" y="32918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6" name="Text 22"/>
          <p:cNvSpPr/>
          <p:nvPr/>
        </p:nvSpPr>
        <p:spPr>
          <a:xfrm>
            <a:off x="5577840" y="3273552"/>
            <a:ext cx="29260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Before deployment</a:t>
            </a:r>
            <a:endParaRPr lang="en-US" sz="1300" dirty="0"/>
          </a:p>
        </p:txBody>
      </p:sp>
      <p:sp>
        <p:nvSpPr>
          <p:cNvPr id="27" name="Text 23"/>
          <p:cNvSpPr/>
          <p:nvPr/>
        </p:nvSpPr>
        <p:spPr>
          <a:xfrm>
            <a:off x="5157216" y="3694176"/>
            <a:ext cx="3346704" cy="822960"/>
          </a:xfrm>
          <a:prstGeom prst="rect">
            <a:avLst/>
          </a:prstGeom>
          <a:noFill/>
          <a:ln/>
        </p:spPr>
        <p:txBody>
          <a:bodyPr wrap="square" lIns="0" tIns="0" rIns="0" bIns="0" rtlCol="0" anchor="t"/>
          <a:lstStyle/>
          <a:p>
            <a:pPr indent="0" marL="0">
              <a:buNone/>
            </a:pPr>
            <a:r>
              <a:rPr lang="en-US" sz="1030" dirty="0">
                <a:solidFill>
                  <a:srgbClr val="CADCFC"/>
                </a:solidFill>
                <a:latin typeface="Calibri" pitchFamily="34" charset="0"/>
                <a:ea typeface="Calibri" pitchFamily="34" charset="-122"/>
                <a:cs typeface="Calibri" pitchFamily="34" charset="-120"/>
              </a:rPr>
              <a:t>Drift monitoring, a retraining policy, calibrated uncertainty, a baseline/human fallback — and the humility to ship the simpler model.</a:t>
            </a:r>
            <a:endParaRPr lang="en-US" sz="10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House Price Prediction with Neural Networks</dc:title>
  <dc:subject>PptxGenJS Presentation</dc:subject>
  <dc:creator>Deep Learning Project 2</dc:creator>
  <cp:lastModifiedBy>Deep Learning Project 2</cp:lastModifiedBy>
  <cp:revision>1</cp:revision>
  <dcterms:created xsi:type="dcterms:W3CDTF">2026-06-10T08:42:33Z</dcterms:created>
  <dcterms:modified xsi:type="dcterms:W3CDTF">2026-06-10T08:42:33Z</dcterms:modified>
</cp:coreProperties>
</file>